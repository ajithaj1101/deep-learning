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B71A3B-7AB3-490F-8FAC-4E095AB2DB21}"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1536392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B71A3B-7AB3-490F-8FAC-4E095AB2DB21}"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6921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3B71A3B-7AB3-490F-8FAC-4E095AB2DB21}"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365430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B71A3B-7AB3-490F-8FAC-4E095AB2DB21}"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447489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3B71A3B-7AB3-490F-8FAC-4E095AB2DB21}" type="datetimeFigureOut">
              <a:rPr lang="en-US" smtClean="0"/>
              <a:t>9/25/2022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517549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B71A3B-7AB3-490F-8FAC-4E095AB2DB21}" type="datetimeFigureOut">
              <a:rPr lang="en-US" smtClean="0"/>
              <a:t>9/25/2022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3511852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B71A3B-7AB3-490F-8FAC-4E095AB2DB21}" type="datetimeFigureOut">
              <a:rPr lang="en-US" smtClean="0"/>
              <a:t>9/25/2022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751904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3B71A3B-7AB3-490F-8FAC-4E095AB2DB21}"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621095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3B71A3B-7AB3-490F-8FAC-4E095AB2DB21}"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620480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B71A3B-7AB3-490F-8FAC-4E095AB2DB21}"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1841134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B71A3B-7AB3-490F-8FAC-4E095AB2DB21}"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1CEAEC-E1D5-477F-B845-1F5FB2BE7321}" type="slidenum">
              <a:rPr lang="en-US" smtClean="0"/>
              <a:t>‹#›</a:t>
            </a:fld>
            <a:endParaRPr lang="en-US"/>
          </a:p>
        </p:txBody>
      </p:sp>
    </p:spTree>
    <p:extLst>
      <p:ext uri="{BB962C8B-B14F-4D97-AF65-F5344CB8AC3E}">
        <p14:creationId xmlns:p14="http://schemas.microsoft.com/office/powerpoint/2010/main" val="3918891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B71A3B-7AB3-490F-8FAC-4E095AB2DB21}" type="datetimeFigureOut">
              <a:rPr lang="en-US" smtClean="0"/>
              <a:t>9/25/2022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1CEAEC-E1D5-477F-B845-1F5FB2BE7321}" type="slidenum">
              <a:rPr lang="en-US" smtClean="0"/>
              <a:t>‹#›</a:t>
            </a:fld>
            <a:endParaRPr lang="en-US"/>
          </a:p>
        </p:txBody>
      </p:sp>
    </p:spTree>
    <p:extLst>
      <p:ext uri="{BB962C8B-B14F-4D97-AF65-F5344CB8AC3E}">
        <p14:creationId xmlns:p14="http://schemas.microsoft.com/office/powerpoint/2010/main" val="3453652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introduction-to-recurrent-neural-network/"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ourses.analyticsvidhya.com/courses/convolutional-neural-networks-cnn-from-scratch?utm_source=blog&amp;utm_medium=cnn-vs-rnn-vs-mlp-analyzing-3-types-of-neural-networks-in-deep-learn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0255" y="2674072"/>
            <a:ext cx="9144000" cy="2387600"/>
          </a:xfrm>
        </p:spPr>
        <p:txBody>
          <a:bodyPr>
            <a:normAutofit fontScale="90000"/>
          </a:bodyPr>
          <a:lstStyle/>
          <a:p>
            <a:r>
              <a:rPr lang="en-US" dirty="0"/>
              <a:t>Different types of Neural Networks in Deep Learning</a:t>
            </a:r>
            <a:br>
              <a:rPr lang="en-US" dirty="0"/>
            </a:br>
            <a:r>
              <a:rPr lang="en-US" dirty="0" smtClean="0"/>
              <a:t/>
            </a:r>
            <a:br>
              <a:rPr lang="en-US" dirty="0" smtClean="0"/>
            </a:br>
            <a:endParaRPr lang="en-US" dirty="0"/>
          </a:p>
        </p:txBody>
      </p:sp>
    </p:spTree>
    <p:extLst>
      <p:ext uri="{BB962C8B-B14F-4D97-AF65-F5344CB8AC3E}">
        <p14:creationId xmlns:p14="http://schemas.microsoft.com/office/powerpoint/2010/main" val="374121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dirty="0" err="1" smtClean="0"/>
              <a:t>i</a:t>
            </a:r>
            <a:r>
              <a:rPr lang="en-US" dirty="0" smtClean="0"/>
              <a:t>)Artificial </a:t>
            </a:r>
            <a:r>
              <a:rPr lang="en-US" dirty="0"/>
              <a:t>Neural Networks (ANN</a:t>
            </a:r>
            <a:r>
              <a:rPr lang="en-US" dirty="0" smtClean="0"/>
              <a:t>)</a:t>
            </a:r>
          </a:p>
          <a:p>
            <a:pPr marL="0" indent="0" algn="ctr">
              <a:buNone/>
            </a:pPr>
            <a:endParaRPr lang="en-US" dirty="0"/>
          </a:p>
          <a:p>
            <a:pPr marL="0" indent="0" algn="ctr">
              <a:buNone/>
            </a:pPr>
            <a:r>
              <a:rPr lang="en-US" dirty="0" smtClean="0"/>
              <a:t>     ii)Convolution </a:t>
            </a:r>
            <a:r>
              <a:rPr lang="en-US" dirty="0"/>
              <a:t>Neural Networks (CNN</a:t>
            </a:r>
            <a:r>
              <a:rPr lang="en-US" dirty="0" smtClean="0"/>
              <a:t>)</a:t>
            </a:r>
          </a:p>
          <a:p>
            <a:pPr marL="0" indent="0" algn="ctr">
              <a:buNone/>
            </a:pPr>
            <a:endParaRPr lang="en-US" dirty="0"/>
          </a:p>
          <a:p>
            <a:pPr marL="0" indent="0" algn="ctr">
              <a:buNone/>
            </a:pPr>
            <a:r>
              <a:rPr lang="en-US" dirty="0" smtClean="0"/>
              <a:t>  iii)Recurrent </a:t>
            </a:r>
            <a:r>
              <a:rPr lang="en-US" dirty="0"/>
              <a:t>Neural Networks (RNN)</a:t>
            </a:r>
          </a:p>
        </p:txBody>
      </p:sp>
    </p:spTree>
    <p:extLst>
      <p:ext uri="{BB962C8B-B14F-4D97-AF65-F5344CB8AC3E}">
        <p14:creationId xmlns:p14="http://schemas.microsoft.com/office/powerpoint/2010/main" val="2739212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a:t>
            </a:r>
            <a:endParaRPr lang="en-US" dirty="0"/>
          </a:p>
        </p:txBody>
      </p:sp>
      <p:sp>
        <p:nvSpPr>
          <p:cNvPr id="3" name="Content Placeholder 2"/>
          <p:cNvSpPr>
            <a:spLocks noGrp="1"/>
          </p:cNvSpPr>
          <p:nvPr>
            <p:ph idx="1"/>
          </p:nvPr>
        </p:nvSpPr>
        <p:spPr/>
        <p:txBody>
          <a:bodyPr/>
          <a:lstStyle/>
          <a:p>
            <a:r>
              <a:rPr lang="en-US" dirty="0"/>
              <a:t>Artificial Neural Network, or ANN, is a group of multiple </a:t>
            </a:r>
            <a:r>
              <a:rPr lang="en-US" dirty="0" err="1"/>
              <a:t>perceptrons</a:t>
            </a:r>
            <a:r>
              <a:rPr lang="en-US" dirty="0"/>
              <a:t>/ neurons at each layer. ANN is also known as a </a:t>
            </a:r>
            <a:r>
              <a:rPr lang="en-US" b="1" dirty="0"/>
              <a:t>Feed-Forward Neural network</a:t>
            </a:r>
            <a:r>
              <a:rPr lang="en-US" dirty="0"/>
              <a:t> </a:t>
            </a:r>
            <a:r>
              <a:rPr lang="en-US" dirty="0" smtClean="0"/>
              <a:t>because </a:t>
            </a:r>
            <a:r>
              <a:rPr lang="en-US" dirty="0"/>
              <a:t>inputs are processed only in the forward </a:t>
            </a:r>
            <a:r>
              <a:rPr lang="en-US" dirty="0" smtClean="0"/>
              <a:t>direction</a:t>
            </a:r>
            <a:endParaRPr lang="en-US" dirty="0"/>
          </a:p>
          <a:p>
            <a:endParaRPr lang="en-US" dirty="0" smtClean="0"/>
          </a:p>
          <a:p>
            <a:endParaRPr lang="en-US" dirty="0"/>
          </a:p>
        </p:txBody>
      </p:sp>
      <p:pic>
        <p:nvPicPr>
          <p:cNvPr id="1026" name="Picture 2" descr="Neural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5138" y="3137162"/>
            <a:ext cx="5635625" cy="3174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747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838200" y="430213"/>
            <a:ext cx="10515600" cy="5746750"/>
          </a:xfrm>
        </p:spPr>
        <p:txBody>
          <a:bodyPr/>
          <a:lstStyle/>
          <a:p>
            <a:r>
              <a:rPr lang="en-US" dirty="0"/>
              <a:t>As you can see here, ANN consists of 3 layers – Input, Hidden and Output. The input layer accepts the inputs, the hidden layer processes the inputs, and the output layer produces the result. Essentially, each layer tries to learn certain weights</a:t>
            </a:r>
            <a:r>
              <a:rPr lang="en-US" dirty="0" smtClean="0"/>
              <a:t>.</a:t>
            </a:r>
          </a:p>
          <a:p>
            <a:pPr marL="0" indent="0">
              <a:buNone/>
            </a:pPr>
            <a:endParaRPr lang="en-US" dirty="0" smtClean="0"/>
          </a:p>
          <a:p>
            <a:r>
              <a:rPr lang="en-US" dirty="0"/>
              <a:t>ANN can be used to solve problems related to:</a:t>
            </a:r>
          </a:p>
          <a:p>
            <a:r>
              <a:rPr lang="en-US" dirty="0"/>
              <a:t>Tabular data</a:t>
            </a:r>
          </a:p>
          <a:p>
            <a:r>
              <a:rPr lang="en-US" dirty="0"/>
              <a:t>Image data</a:t>
            </a:r>
          </a:p>
          <a:p>
            <a:r>
              <a:rPr lang="en-US" dirty="0"/>
              <a:t>Text data</a:t>
            </a:r>
          </a:p>
          <a:p>
            <a:endParaRPr lang="en-US" dirty="0"/>
          </a:p>
        </p:txBody>
      </p:sp>
    </p:spTree>
    <p:extLst>
      <p:ext uri="{BB962C8B-B14F-4D97-AF65-F5344CB8AC3E}">
        <p14:creationId xmlns:p14="http://schemas.microsoft.com/office/powerpoint/2010/main" val="3048076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Artificial Neural Network (ANN</a:t>
            </a:r>
            <a:r>
              <a:rPr lang="en-US" dirty="0" smtClean="0"/>
              <a:t>)</a:t>
            </a:r>
            <a:endParaRPr lang="en-US" dirty="0"/>
          </a:p>
        </p:txBody>
      </p:sp>
      <p:sp>
        <p:nvSpPr>
          <p:cNvPr id="3" name="Content Placeholder 2"/>
          <p:cNvSpPr>
            <a:spLocks noGrp="1"/>
          </p:cNvSpPr>
          <p:nvPr>
            <p:ph idx="1"/>
          </p:nvPr>
        </p:nvSpPr>
        <p:spPr/>
        <p:txBody>
          <a:bodyPr/>
          <a:lstStyle/>
          <a:p>
            <a:r>
              <a:rPr lang="en-US" dirty="0"/>
              <a:t>Artificial Neural Network is capable of learning any nonlinear function</a:t>
            </a:r>
            <a:r>
              <a:rPr lang="en-US" dirty="0" smtClean="0"/>
              <a:t>.</a:t>
            </a:r>
          </a:p>
          <a:p>
            <a:r>
              <a:rPr lang="en-US" dirty="0"/>
              <a:t> Hence, these networks are popularly known as </a:t>
            </a:r>
            <a:r>
              <a:rPr lang="en-US" b="1" dirty="0"/>
              <a:t>Universal Function </a:t>
            </a:r>
            <a:r>
              <a:rPr lang="en-US" b="1" dirty="0" err="1"/>
              <a:t>Approximators</a:t>
            </a:r>
            <a:r>
              <a:rPr lang="en-US" dirty="0"/>
              <a:t>. ANNs have the capacity to learn weights that map any input to the output.</a:t>
            </a:r>
          </a:p>
          <a:p>
            <a:r>
              <a:rPr lang="en-US" dirty="0"/>
              <a:t>One of the main reasons behind universal approximation is the </a:t>
            </a:r>
            <a:r>
              <a:rPr lang="en-US" b="1" dirty="0"/>
              <a:t>activation function</a:t>
            </a:r>
            <a:r>
              <a:rPr lang="en-US" dirty="0"/>
              <a:t>. Activation functions introduce nonlinear properties to the network. This helps the network learn any complex relationship between input and output.</a:t>
            </a:r>
          </a:p>
          <a:p>
            <a:endParaRPr lang="en-US" dirty="0"/>
          </a:p>
        </p:txBody>
      </p:sp>
    </p:spTree>
    <p:extLst>
      <p:ext uri="{BB962C8B-B14F-4D97-AF65-F5344CB8AC3E}">
        <p14:creationId xmlns:p14="http://schemas.microsoft.com/office/powerpoint/2010/main" val="2048624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a:t>
            </a:r>
            <a:endParaRPr lang="en-US" dirty="0"/>
          </a:p>
        </p:txBody>
      </p:sp>
      <p:sp>
        <p:nvSpPr>
          <p:cNvPr id="3" name="Content Placeholder 2"/>
          <p:cNvSpPr>
            <a:spLocks noGrp="1"/>
          </p:cNvSpPr>
          <p:nvPr>
            <p:ph idx="1"/>
          </p:nvPr>
        </p:nvSpPr>
        <p:spPr>
          <a:xfrm>
            <a:off x="838200" y="1825625"/>
            <a:ext cx="10515600" cy="4796848"/>
          </a:xfrm>
        </p:spPr>
        <p:txBody>
          <a:bodyPr>
            <a:normAutofit fontScale="92500" lnSpcReduction="10000"/>
          </a:bodyPr>
          <a:lstStyle/>
          <a:p>
            <a:pPr marL="0" indent="0">
              <a:buNone/>
            </a:pPr>
            <a:r>
              <a:rPr lang="en-US" sz="2600" dirty="0" err="1" smtClean="0"/>
              <a:t>i</a:t>
            </a:r>
            <a:r>
              <a:rPr lang="en-US" sz="2600" dirty="0" smtClean="0"/>
              <a:t>)While </a:t>
            </a:r>
            <a:r>
              <a:rPr lang="en-US" sz="2600" dirty="0"/>
              <a:t>solving an image classification problem using ANN, the first step is to convert a 2-dimensional image into a 1-dimensional vector prior to training the </a:t>
            </a:r>
            <a:r>
              <a:rPr lang="en-US" sz="2600" dirty="0" smtClean="0"/>
              <a:t>model</a:t>
            </a:r>
          </a:p>
          <a:p>
            <a:r>
              <a:rPr lang="en-US" dirty="0"/>
              <a:t>This has two drawbacks:</a:t>
            </a:r>
          </a:p>
          <a:p>
            <a:pPr lvl="1"/>
            <a:r>
              <a:rPr lang="en-US" dirty="0"/>
              <a:t>The number of trainable parameters increases drastically with an increase in the size of the </a:t>
            </a:r>
            <a:r>
              <a:rPr lang="en-US" dirty="0" err="1" smtClean="0"/>
              <a:t>image.if</a:t>
            </a:r>
            <a:r>
              <a:rPr lang="en-US" dirty="0" smtClean="0"/>
              <a:t> </a:t>
            </a:r>
            <a:r>
              <a:rPr lang="en-US" dirty="0"/>
              <a:t>the size of the image is 224*224, then the number of trainable parameters at the first hidden layer with just 4 neurons is 602,112. That’s </a:t>
            </a:r>
            <a:r>
              <a:rPr lang="en-US" dirty="0" smtClean="0"/>
              <a:t>huge</a:t>
            </a:r>
          </a:p>
          <a:p>
            <a:pPr lvl="1"/>
            <a:r>
              <a:rPr lang="en-US" dirty="0"/>
              <a:t>ANN loses the spatial features of an image. Spatial features refer to the arrangement of the pixels in an </a:t>
            </a:r>
            <a:r>
              <a:rPr lang="en-US" dirty="0" smtClean="0"/>
              <a:t>image.</a:t>
            </a:r>
          </a:p>
          <a:p>
            <a:pPr marL="457200" lvl="1" indent="0">
              <a:buNone/>
            </a:pPr>
            <a:endParaRPr lang="en-US" dirty="0"/>
          </a:p>
          <a:p>
            <a:pPr marL="457200" lvl="1" indent="0">
              <a:buNone/>
            </a:pPr>
            <a:r>
              <a:rPr lang="en-US" dirty="0" smtClean="0"/>
              <a:t>ii)ANN </a:t>
            </a:r>
            <a:r>
              <a:rPr lang="en-US" dirty="0"/>
              <a:t>cannot capture sequential information in the input data which is required for dealing with sequence </a:t>
            </a:r>
            <a:r>
              <a:rPr lang="en-US" dirty="0" smtClean="0"/>
              <a:t>data. Now</a:t>
            </a:r>
            <a:r>
              <a:rPr lang="en-US" dirty="0"/>
              <a:t>, let us see how to overcome the limitations of MLP using two different architectures – Recurrent Neural Networks (RNN) and Convolution Neural Networks (CNN).</a:t>
            </a:r>
          </a:p>
          <a:p>
            <a:pPr marL="457200" lvl="1" indent="0">
              <a:buNone/>
            </a:pPr>
            <a:endParaRPr lang="en-US" dirty="0"/>
          </a:p>
        </p:txBody>
      </p:sp>
    </p:spTree>
    <p:extLst>
      <p:ext uri="{BB962C8B-B14F-4D97-AF65-F5344CB8AC3E}">
        <p14:creationId xmlns:p14="http://schemas.microsoft.com/office/powerpoint/2010/main" val="1258151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RNN</a:t>
            </a:r>
            <a:endParaRPr lang="en-US" dirty="0"/>
          </a:p>
        </p:txBody>
      </p:sp>
      <p:sp>
        <p:nvSpPr>
          <p:cNvPr id="3" name="Content Placeholder 2"/>
          <p:cNvSpPr>
            <a:spLocks noGrp="1"/>
          </p:cNvSpPr>
          <p:nvPr>
            <p:ph idx="1"/>
          </p:nvPr>
        </p:nvSpPr>
        <p:spPr/>
        <p:txBody>
          <a:bodyPr/>
          <a:lstStyle/>
          <a:p>
            <a:r>
              <a:rPr lang="en-US" u="sng" dirty="0">
                <a:hlinkClick r:id="rId2"/>
              </a:rPr>
              <a:t>Recurrent neural networks</a:t>
            </a:r>
            <a:r>
              <a:rPr lang="en-US" dirty="0"/>
              <a:t> (RNN) are more complex. They save the output of processing nodes and feed the result back into the model (they did not pass the information in one direction only). This is how the model is said to learn to predict the outcome of a layer. Each node in the RNN model acts as a memory cell, continuing the computation and implementation of operations. If the network’s prediction is incorrect, then the system self-learns and continues working towards the correct prediction during backpropagation.</a:t>
            </a:r>
          </a:p>
        </p:txBody>
      </p:sp>
    </p:spTree>
    <p:extLst>
      <p:ext uri="{BB962C8B-B14F-4D97-AF65-F5344CB8AC3E}">
        <p14:creationId xmlns:p14="http://schemas.microsoft.com/office/powerpoint/2010/main" val="3726934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RNN   vs   ANN</a:t>
            </a:r>
            <a:endParaRPr lang="en-US" dirty="0"/>
          </a:p>
        </p:txBody>
      </p:sp>
      <p:pic>
        <p:nvPicPr>
          <p:cNvPr id="3075" name="Picture 3" descr="RN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5165" y="2083190"/>
            <a:ext cx="6968835" cy="3715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89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838200" y="609600"/>
            <a:ext cx="10515600" cy="5567363"/>
          </a:xfrm>
        </p:spPr>
        <p:txBody>
          <a:bodyPr/>
          <a:lstStyle/>
          <a:p>
            <a:r>
              <a:rPr lang="en-US" b="1" dirty="0"/>
              <a:t>As you can see here, RNN has a recurrent connection on the hidden state. This looping constraint ensures that sequential information is captured in the input data</a:t>
            </a:r>
            <a:r>
              <a:rPr lang="en-US" b="1" dirty="0" smtClean="0"/>
              <a:t>.</a:t>
            </a:r>
          </a:p>
          <a:p>
            <a:endParaRPr lang="en-US" b="1" dirty="0"/>
          </a:p>
          <a:p>
            <a:pPr marL="0" indent="0">
              <a:buNone/>
            </a:pPr>
            <a:r>
              <a:rPr lang="en-US" dirty="0"/>
              <a:t>We can use recurrent neural networks to solve the problems related to:</a:t>
            </a:r>
          </a:p>
          <a:p>
            <a:r>
              <a:rPr lang="en-US" dirty="0"/>
              <a:t>Time Series data</a:t>
            </a:r>
          </a:p>
          <a:p>
            <a:r>
              <a:rPr lang="en-US" dirty="0"/>
              <a:t>Text data</a:t>
            </a:r>
          </a:p>
          <a:p>
            <a:r>
              <a:rPr lang="en-US" dirty="0"/>
              <a:t>Audio data</a:t>
            </a:r>
          </a:p>
          <a:p>
            <a:endParaRPr lang="en-US" dirty="0"/>
          </a:p>
        </p:txBody>
      </p:sp>
    </p:spTree>
    <p:extLst>
      <p:ext uri="{BB962C8B-B14F-4D97-AF65-F5344CB8AC3E}">
        <p14:creationId xmlns:p14="http://schemas.microsoft.com/office/powerpoint/2010/main" val="1232858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Recurrent Neural Network (RNN</a:t>
            </a:r>
            <a:r>
              <a:rPr lang="en-US" dirty="0" smtClean="0"/>
              <a:t>)</a:t>
            </a:r>
            <a:endParaRPr lang="en-US" dirty="0"/>
          </a:p>
        </p:txBody>
      </p:sp>
      <p:sp>
        <p:nvSpPr>
          <p:cNvPr id="3" name="Content Placeholder 2"/>
          <p:cNvSpPr>
            <a:spLocks noGrp="1"/>
          </p:cNvSpPr>
          <p:nvPr>
            <p:ph idx="1"/>
          </p:nvPr>
        </p:nvSpPr>
        <p:spPr/>
        <p:txBody>
          <a:bodyPr/>
          <a:lstStyle/>
          <a:p>
            <a:r>
              <a:rPr lang="en-US" dirty="0"/>
              <a:t>RNN captures the sequential information present in the input data i.e. dependency between the words in the text while making </a:t>
            </a:r>
            <a:r>
              <a:rPr lang="en-US" dirty="0" smtClean="0"/>
              <a:t>predictions</a:t>
            </a:r>
          </a:p>
          <a:p>
            <a:r>
              <a:rPr lang="en-US" dirty="0"/>
              <a:t>RNNs share the parameters across different time steps. This is popularly known as </a:t>
            </a:r>
            <a:r>
              <a:rPr lang="en-US" b="1" dirty="0"/>
              <a:t>Parameter Sharing</a:t>
            </a:r>
            <a:r>
              <a:rPr lang="en-US" dirty="0"/>
              <a:t>. This results in fewer parameters to train and decreases the computational cost</a:t>
            </a:r>
          </a:p>
          <a:p>
            <a:pPr marL="0" indent="0">
              <a:buNone/>
            </a:pPr>
            <a:endParaRPr lang="en-US" dirty="0"/>
          </a:p>
        </p:txBody>
      </p:sp>
    </p:spTree>
    <p:extLst>
      <p:ext uri="{BB962C8B-B14F-4D97-AF65-F5344CB8AC3E}">
        <p14:creationId xmlns:p14="http://schemas.microsoft.com/office/powerpoint/2010/main" val="280261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lstStyle/>
          <a:p>
            <a:r>
              <a:rPr lang="en-US" dirty="0"/>
              <a:t>Deep RNNs (RNNs with a large number of time steps) also suffer from the vanishing and exploding gradient problem which is a common problem in all the different types of neural networks</a:t>
            </a:r>
            <a:r>
              <a:rPr lang="en-US" dirty="0" smtClean="0"/>
              <a:t>.</a:t>
            </a:r>
          </a:p>
          <a:p>
            <a:r>
              <a:rPr lang="en-US" dirty="0"/>
              <a:t>It cannot process very long sequences if using </a:t>
            </a:r>
            <a:r>
              <a:rPr lang="en-US" dirty="0" err="1"/>
              <a:t>tanh</a:t>
            </a:r>
            <a:r>
              <a:rPr lang="en-US" dirty="0"/>
              <a:t> or </a:t>
            </a:r>
            <a:r>
              <a:rPr lang="en-US" dirty="0" err="1"/>
              <a:t>relu</a:t>
            </a:r>
            <a:r>
              <a:rPr lang="en-US" dirty="0"/>
              <a:t> as an activation function.</a:t>
            </a:r>
          </a:p>
          <a:p>
            <a:pPr marL="0" indent="0">
              <a:buNone/>
            </a:pPr>
            <a:endParaRPr lang="en-US" dirty="0"/>
          </a:p>
        </p:txBody>
      </p:sp>
    </p:spTree>
    <p:extLst>
      <p:ext uri="{BB962C8B-B14F-4D97-AF65-F5344CB8AC3E}">
        <p14:creationId xmlns:p14="http://schemas.microsoft.com/office/powerpoint/2010/main" val="190034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CNN</a:t>
            </a:r>
            <a:endParaRPr lang="en-US" dirty="0"/>
          </a:p>
        </p:txBody>
      </p:sp>
      <p:sp>
        <p:nvSpPr>
          <p:cNvPr id="3" name="Content Placeholder 2"/>
          <p:cNvSpPr>
            <a:spLocks noGrp="1"/>
          </p:cNvSpPr>
          <p:nvPr>
            <p:ph idx="1"/>
          </p:nvPr>
        </p:nvSpPr>
        <p:spPr>
          <a:xfrm>
            <a:off x="838200" y="1274618"/>
            <a:ext cx="10515600" cy="5347855"/>
          </a:xfrm>
        </p:spPr>
        <p:txBody>
          <a:bodyPr>
            <a:normAutofit fontScale="92500" lnSpcReduction="20000"/>
          </a:bodyPr>
          <a:lstStyle/>
          <a:p>
            <a:r>
              <a:rPr lang="en-US" b="1" dirty="0"/>
              <a:t>The building blocks of CNNs are filters a.k.a. kernels.</a:t>
            </a:r>
            <a:r>
              <a:rPr lang="en-US" dirty="0"/>
              <a:t> Kernels are used to extract the relevant features from the input using the convolution operation. Let’s try to grasp the importance of filters using images as input data. Convolving an image with filters results in a feature </a:t>
            </a:r>
            <a:r>
              <a:rPr lang="en-US" dirty="0" smtClean="0"/>
              <a:t>map.</a:t>
            </a:r>
          </a:p>
          <a:p>
            <a:endParaRPr lang="en-US" dirty="0" smtClean="0"/>
          </a:p>
          <a:p>
            <a:endParaRPr lang="en-US" dirty="0" smtClean="0"/>
          </a:p>
          <a:p>
            <a:endParaRPr lang="en-US" dirty="0"/>
          </a:p>
          <a:p>
            <a:endParaRPr lang="en-US" dirty="0" smtClean="0"/>
          </a:p>
          <a:p>
            <a:endParaRPr lang="en-US" dirty="0" smtClean="0"/>
          </a:p>
          <a:p>
            <a:endParaRPr lang="en-US" dirty="0"/>
          </a:p>
          <a:p>
            <a:endParaRPr lang="en-US" dirty="0" smtClean="0"/>
          </a:p>
          <a:p>
            <a:r>
              <a:rPr lang="en-US" dirty="0" smtClean="0"/>
              <a:t>Though </a:t>
            </a:r>
            <a:r>
              <a:rPr lang="en-US" dirty="0"/>
              <a:t>convolutional neural networks were introduced to solve problems related to image data, they perform impressively on sequential inputs as well.</a:t>
            </a:r>
          </a:p>
        </p:txBody>
      </p:sp>
      <p:pic>
        <p:nvPicPr>
          <p:cNvPr id="4098" name="Picture 2" descr="https://cdn.analyticsvidhya.com/wp-content/uploads/2020/02/Untitled-Dia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539" y="2840178"/>
            <a:ext cx="7824643" cy="208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616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Convolution Neural Network (CNN</a:t>
            </a:r>
            <a:r>
              <a:rPr lang="en-US" dirty="0" smtClean="0"/>
              <a:t>)</a:t>
            </a:r>
            <a:endParaRPr lang="en-US" dirty="0"/>
          </a:p>
        </p:txBody>
      </p:sp>
      <p:sp>
        <p:nvSpPr>
          <p:cNvPr id="3" name="Content Placeholder 2"/>
          <p:cNvSpPr>
            <a:spLocks noGrp="1"/>
          </p:cNvSpPr>
          <p:nvPr>
            <p:ph idx="1"/>
          </p:nvPr>
        </p:nvSpPr>
        <p:spPr/>
        <p:txBody>
          <a:bodyPr/>
          <a:lstStyle/>
          <a:p>
            <a:r>
              <a:rPr lang="en-US" dirty="0"/>
              <a:t>CNN learns the filters automatically without mentioning it explicitly. These filters help in extracting the right and relevant features from the input </a:t>
            </a:r>
            <a:r>
              <a:rPr lang="en-US" dirty="0" smtClean="0"/>
              <a:t>data</a:t>
            </a:r>
          </a:p>
          <a:p>
            <a:pPr fontAlgn="base"/>
            <a:r>
              <a:rPr lang="en-US" dirty="0"/>
              <a:t>Very High accuracy in image recognition problems</a:t>
            </a:r>
            <a:r>
              <a:rPr lang="en-US" dirty="0" smtClean="0"/>
              <a:t>.</a:t>
            </a:r>
          </a:p>
          <a:p>
            <a:pPr fontAlgn="base"/>
            <a:r>
              <a:rPr lang="en-US" dirty="0">
                <a:hlinkClick r:id="rId2"/>
              </a:rPr>
              <a:t>CNN</a:t>
            </a:r>
            <a:r>
              <a:rPr lang="en-US" dirty="0"/>
              <a:t> captures the </a:t>
            </a:r>
            <a:r>
              <a:rPr lang="en-US" b="1" dirty="0"/>
              <a:t>spatial features</a:t>
            </a:r>
            <a:r>
              <a:rPr lang="en-US" dirty="0"/>
              <a:t> from an image. Spatial features refer to the arrangement of pixels and the relationship between them in an image. They help us in identifying the object accurately, the location of an object, as well as its relation with other objects in an image</a:t>
            </a:r>
          </a:p>
          <a:p>
            <a:pPr fontAlgn="base"/>
            <a:endParaRPr lang="en-US" dirty="0"/>
          </a:p>
        </p:txBody>
      </p:sp>
    </p:spTree>
    <p:extLst>
      <p:ext uri="{BB962C8B-B14F-4D97-AF65-F5344CB8AC3E}">
        <p14:creationId xmlns:p14="http://schemas.microsoft.com/office/powerpoint/2010/main" val="3422174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lstStyle/>
          <a:p>
            <a:pPr fontAlgn="base"/>
            <a:r>
              <a:rPr lang="en-US" dirty="0"/>
              <a:t>Lots of training data is required.</a:t>
            </a:r>
          </a:p>
          <a:p>
            <a:r>
              <a:rPr lang="en-US" dirty="0" smtClean="0"/>
              <a:t/>
            </a:r>
            <a:br>
              <a:rPr lang="en-US" dirty="0" smtClean="0"/>
            </a:br>
            <a:endParaRPr lang="en-US" dirty="0"/>
          </a:p>
        </p:txBody>
      </p:sp>
    </p:spTree>
    <p:extLst>
      <p:ext uri="{BB962C8B-B14F-4D97-AF65-F5344CB8AC3E}">
        <p14:creationId xmlns:p14="http://schemas.microsoft.com/office/powerpoint/2010/main" val="2991650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810</Words>
  <Application>Microsoft Office PowerPoint</Application>
  <PresentationFormat>Widescreen</PresentationFormat>
  <Paragraphs>57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Different types of Neural Networks in Deep Learning  </vt:lpstr>
      <vt:lpstr>PowerPoint Presentation</vt:lpstr>
      <vt:lpstr>ANN</vt:lpstr>
      <vt:lpstr>PowerPoint Presentation</vt:lpstr>
      <vt:lpstr>Advantages of Artificial Neural Network (ANN)</vt:lpstr>
      <vt:lpstr>Disadvantages</vt:lpstr>
      <vt:lpstr>RNN</vt:lpstr>
      <vt:lpstr>RNN   vs   ANN</vt:lpstr>
      <vt:lpstr>PowerPoint Presentation</vt:lpstr>
      <vt:lpstr>Advantages of Recurrent Neural Network (RNN)</vt:lpstr>
      <vt:lpstr>Disadvantages</vt:lpstr>
      <vt:lpstr>CNN</vt:lpstr>
      <vt:lpstr>Advantages of Convolution Neural Network (CNN)</vt:lpstr>
      <vt:lpstr>Disadvantages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types of Neural Networks in Deep Learning  </dc:title>
  <dc:creator>Ajith</dc:creator>
  <cp:lastModifiedBy>Ajith</cp:lastModifiedBy>
  <cp:revision>32</cp:revision>
  <dcterms:created xsi:type="dcterms:W3CDTF">2022-09-25T17:45:04Z</dcterms:created>
  <dcterms:modified xsi:type="dcterms:W3CDTF">2022-09-25T18:15:35Z</dcterms:modified>
</cp:coreProperties>
</file>