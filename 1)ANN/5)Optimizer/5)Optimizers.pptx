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1" r:id="rId8"/>
    <p:sldId id="263" r:id="rId9"/>
    <p:sldId id="264" r:id="rId10"/>
    <p:sldId id="265" r:id="rId11"/>
    <p:sldId id="269" r:id="rId12"/>
    <p:sldId id="271" r:id="rId13"/>
    <p:sldId id="266" r:id="rId14"/>
    <p:sldId id="267" r:id="rId15"/>
    <p:sldId id="268"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F747959-D444-45AE-883E-A683576DA74D}" type="datetimeFigureOut">
              <a:rPr lang="en-US" smtClean="0"/>
              <a:t>9/18/2023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127870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47959-D444-45AE-883E-A683576DA74D}" type="datetimeFigureOut">
              <a:rPr lang="en-US" smtClean="0"/>
              <a:t>9/18/2023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3135713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747959-D444-45AE-883E-A683576DA74D}" type="datetimeFigureOut">
              <a:rPr lang="en-US" smtClean="0"/>
              <a:t>9/18/2023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3341200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747959-D444-45AE-883E-A683576DA74D}" type="datetimeFigureOut">
              <a:rPr lang="en-US" smtClean="0"/>
              <a:t>9/18/2023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2430678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747959-D444-45AE-883E-A683576DA74D}" type="datetimeFigureOut">
              <a:rPr lang="en-US" smtClean="0"/>
              <a:t>9/18/2023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2437959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747959-D444-45AE-883E-A683576DA74D}" type="datetimeFigureOut">
              <a:rPr lang="en-US" smtClean="0"/>
              <a:t>9/18/2023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2797242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747959-D444-45AE-883E-A683576DA74D}" type="datetimeFigureOut">
              <a:rPr lang="en-US" smtClean="0"/>
              <a:t>9/18/2023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740542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747959-D444-45AE-883E-A683576DA74D}" type="datetimeFigureOut">
              <a:rPr lang="en-US" smtClean="0"/>
              <a:t>9/18/2023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720526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747959-D444-45AE-883E-A683576DA74D}" type="datetimeFigureOut">
              <a:rPr lang="en-US" smtClean="0"/>
              <a:t>9/18/2023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2299647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47959-D444-45AE-883E-A683576DA74D}" type="datetimeFigureOut">
              <a:rPr lang="en-US" smtClean="0"/>
              <a:t>9/18/2023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267473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47959-D444-45AE-883E-A683576DA74D}" type="datetimeFigureOut">
              <a:rPr lang="en-US" smtClean="0"/>
              <a:t>9/18/2023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1922DA-714B-4BF3-A7DC-01F6C82C9EBE}" type="slidenum">
              <a:rPr lang="en-US" smtClean="0"/>
              <a:t>‹#›</a:t>
            </a:fld>
            <a:endParaRPr lang="en-US"/>
          </a:p>
        </p:txBody>
      </p:sp>
    </p:spTree>
    <p:extLst>
      <p:ext uri="{BB962C8B-B14F-4D97-AF65-F5344CB8AC3E}">
        <p14:creationId xmlns:p14="http://schemas.microsoft.com/office/powerpoint/2010/main" val="2422010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747959-D444-45AE-883E-A683576DA74D}" type="datetimeFigureOut">
              <a:rPr lang="en-US" smtClean="0"/>
              <a:t>9/18/2023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1922DA-714B-4BF3-A7DC-01F6C82C9EBE}" type="slidenum">
              <a:rPr lang="en-US" smtClean="0"/>
              <a:t>‹#›</a:t>
            </a:fld>
            <a:endParaRPr lang="en-US"/>
          </a:p>
        </p:txBody>
      </p:sp>
    </p:spTree>
    <p:extLst>
      <p:ext uri="{BB962C8B-B14F-4D97-AF65-F5344CB8AC3E}">
        <p14:creationId xmlns:p14="http://schemas.microsoft.com/office/powerpoint/2010/main" val="3821493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1931" y="326571"/>
            <a:ext cx="9144000" cy="640080"/>
          </a:xfrm>
        </p:spPr>
        <p:txBody>
          <a:bodyPr>
            <a:normAutofit/>
          </a:bodyPr>
          <a:lstStyle/>
          <a:p>
            <a:r>
              <a:rPr lang="en-US" sz="3500" b="1" dirty="0"/>
              <a:t>OPTIMIZERS</a:t>
            </a:r>
          </a:p>
        </p:txBody>
      </p:sp>
      <p:sp>
        <p:nvSpPr>
          <p:cNvPr id="3" name="Subtitle 2"/>
          <p:cNvSpPr>
            <a:spLocks noGrp="1"/>
          </p:cNvSpPr>
          <p:nvPr>
            <p:ph type="subTitle" idx="1"/>
          </p:nvPr>
        </p:nvSpPr>
        <p:spPr>
          <a:xfrm>
            <a:off x="783771" y="1149531"/>
            <a:ext cx="10450286" cy="5355771"/>
          </a:xfrm>
        </p:spPr>
        <p:txBody>
          <a:bodyPr>
            <a:normAutofit/>
          </a:bodyPr>
          <a:lstStyle/>
          <a:p>
            <a:r>
              <a:rPr lang="en-US" b="1" dirty="0"/>
              <a:t>“The right optimization algorithm can reduce training time exponentially”</a:t>
            </a:r>
          </a:p>
          <a:p>
            <a:endParaRPr lang="en-US" b="1" dirty="0"/>
          </a:p>
          <a:p>
            <a:pPr marL="342900" indent="-342900" algn="l">
              <a:buFont typeface="Arial" panose="020B0604020202020204" pitchFamily="34" charset="0"/>
              <a:buChar char="•"/>
            </a:pPr>
            <a:r>
              <a:rPr lang="en-US" dirty="0"/>
              <a:t>Many people may be using optimizers while training the neural network without knowing that the method is known as optimization. </a:t>
            </a:r>
          </a:p>
          <a:p>
            <a:pPr marL="342900" indent="-342900" algn="l">
              <a:buFont typeface="Arial" panose="020B0604020202020204" pitchFamily="34" charset="0"/>
              <a:buChar char="•"/>
            </a:pPr>
            <a:r>
              <a:rPr lang="en-US" dirty="0"/>
              <a:t>Optimizers are algorithms or methods used to change the attributes of your neural network such as weights and learning rate in order to reduce the losses.</a:t>
            </a:r>
          </a:p>
          <a:p>
            <a:pPr marL="342900" indent="-342900" algn="l">
              <a:buFont typeface="Arial" panose="020B0604020202020204" pitchFamily="34" charset="0"/>
              <a:buChar char="•"/>
            </a:pPr>
            <a:r>
              <a:rPr lang="en-US" dirty="0"/>
              <a:t>Optimizer minimize errors by updating weights and bias.</a:t>
            </a:r>
          </a:p>
          <a:p>
            <a:pPr marL="342900" indent="-342900" algn="l">
              <a:buFont typeface="Arial" panose="020B0604020202020204" pitchFamily="34" charset="0"/>
              <a:buChar char="•"/>
            </a:pPr>
            <a:r>
              <a:rPr lang="en-US" dirty="0"/>
              <a:t>Backward propagation is update weight &amp; bias by using optimizer.</a:t>
            </a:r>
          </a:p>
          <a:p>
            <a:pPr marL="342900" indent="-342900" algn="l">
              <a:buFont typeface="Arial" panose="020B0604020202020204" pitchFamily="34" charset="0"/>
              <a:buChar char="•"/>
            </a:pPr>
            <a:r>
              <a:rPr lang="en-US" dirty="0"/>
              <a:t>How you should change your weights or learning rates of your neural network to reduce the losses is defined by the optimizers you use. Optimization algorithms or strategies are responsible for reducing the losses and to provide the most accurate results possible.</a:t>
            </a:r>
            <a:endParaRPr lang="en-US" b="1" dirty="0"/>
          </a:p>
          <a:p>
            <a:endParaRPr lang="en-US" b="1" dirty="0"/>
          </a:p>
        </p:txBody>
      </p:sp>
    </p:spTree>
    <p:extLst>
      <p:ext uri="{BB962C8B-B14F-4D97-AF65-F5344CB8AC3E}">
        <p14:creationId xmlns:p14="http://schemas.microsoft.com/office/powerpoint/2010/main" val="339984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r>
              <a:rPr lang="en-US" b="1" dirty="0"/>
              <a:t>1)Gradient Descent</a:t>
            </a:r>
          </a:p>
        </p:txBody>
      </p:sp>
      <p:sp>
        <p:nvSpPr>
          <p:cNvPr id="3" name="Content Placeholder 2"/>
          <p:cNvSpPr>
            <a:spLocks noGrp="1"/>
          </p:cNvSpPr>
          <p:nvPr>
            <p:ph idx="1"/>
          </p:nvPr>
        </p:nvSpPr>
        <p:spPr>
          <a:xfrm>
            <a:off x="838200" y="1188720"/>
            <a:ext cx="10515600" cy="4988243"/>
          </a:xfrm>
        </p:spPr>
        <p:txBody>
          <a:bodyPr/>
          <a:lstStyle/>
          <a:p>
            <a:r>
              <a:rPr lang="en-US" dirty="0"/>
              <a:t>Gradient Descent is the most basic but most used optimization algorithm. It’s used heavily in linear regression and classification algorithms. Backpropagation in neural networks also uses a gradient descent algorithm.</a:t>
            </a:r>
          </a:p>
          <a:p>
            <a:r>
              <a:rPr lang="en-US" dirty="0"/>
              <a:t>Gradient descent is a first-order optimization algorithm which is dependent on the first order derivative of a loss function. It calculates that which way the weights should be altered so that the function can reach a minima. Through backpropagation, the loss is transferred from one layer to another and the model’s parameters also known as weights are modified depending on the losses so that the loss can be minimized.</a:t>
            </a:r>
          </a:p>
        </p:txBody>
      </p:sp>
    </p:spTree>
    <p:extLst>
      <p:ext uri="{BB962C8B-B14F-4D97-AF65-F5344CB8AC3E}">
        <p14:creationId xmlns:p14="http://schemas.microsoft.com/office/powerpoint/2010/main" val="869257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392113"/>
            <a:ext cx="10515600" cy="5784850"/>
          </a:xfrm>
        </p:spPr>
        <p:txBody>
          <a:bodyPr/>
          <a:lstStyle/>
          <a:p>
            <a:pPr marL="0" indent="0">
              <a:buNone/>
            </a:pPr>
            <a:r>
              <a:rPr lang="en-US" b="1" dirty="0"/>
              <a:t>Advantages</a:t>
            </a:r>
            <a:r>
              <a:rPr lang="en-US" dirty="0"/>
              <a:t>:</a:t>
            </a:r>
          </a:p>
          <a:p>
            <a:r>
              <a:rPr lang="en-US" dirty="0"/>
              <a:t>Easy computation.</a:t>
            </a:r>
          </a:p>
          <a:p>
            <a:r>
              <a:rPr lang="en-US" dirty="0"/>
              <a:t>Easy to implement.</a:t>
            </a:r>
          </a:p>
          <a:p>
            <a:r>
              <a:rPr lang="en-US" dirty="0"/>
              <a:t>Easy to understand.</a:t>
            </a:r>
          </a:p>
          <a:p>
            <a:pPr marL="0" indent="0">
              <a:buNone/>
            </a:pPr>
            <a:endParaRPr lang="en-US" dirty="0"/>
          </a:p>
          <a:p>
            <a:pPr marL="0" indent="0">
              <a:buNone/>
            </a:pPr>
            <a:r>
              <a:rPr lang="en-US" b="1" dirty="0"/>
              <a:t>Disadvantages</a:t>
            </a:r>
            <a:r>
              <a:rPr lang="en-US" dirty="0"/>
              <a:t>:</a:t>
            </a:r>
          </a:p>
          <a:p>
            <a:r>
              <a:rPr lang="en-US" dirty="0"/>
              <a:t>May trap at local minima.</a:t>
            </a:r>
          </a:p>
          <a:p>
            <a:r>
              <a:rPr lang="en-US" dirty="0"/>
              <a:t>Weights are changed after calculating gradient on the whole dataset. So, if the dataset is too large than this may take years to converge to the minima.</a:t>
            </a:r>
          </a:p>
          <a:p>
            <a:r>
              <a:rPr lang="en-US" dirty="0"/>
              <a:t>Requires large memory to calculate gradient on the whole dataset.</a:t>
            </a:r>
          </a:p>
          <a:p>
            <a:endParaRPr lang="en-US" dirty="0"/>
          </a:p>
        </p:txBody>
      </p:sp>
    </p:spTree>
    <p:extLst>
      <p:ext uri="{BB962C8B-B14F-4D97-AF65-F5344CB8AC3E}">
        <p14:creationId xmlns:p14="http://schemas.microsoft.com/office/powerpoint/2010/main" val="1826165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Gradient Descent</a:t>
            </a:r>
          </a:p>
        </p:txBody>
      </p:sp>
      <p:sp>
        <p:nvSpPr>
          <p:cNvPr id="3" name="Content Placeholder 2"/>
          <p:cNvSpPr>
            <a:spLocks noGrp="1"/>
          </p:cNvSpPr>
          <p:nvPr>
            <p:ph idx="1"/>
          </p:nvPr>
        </p:nvSpPr>
        <p:spPr/>
        <p:txBody>
          <a:bodyPr/>
          <a:lstStyle/>
          <a:p>
            <a:pPr marL="0" indent="0">
              <a:buNone/>
            </a:pPr>
            <a:r>
              <a:rPr lang="en-US" dirty="0"/>
              <a:t>Different types of Gradient descent are:</a:t>
            </a:r>
          </a:p>
          <a:p>
            <a:pPr marL="0" indent="0">
              <a:buNone/>
            </a:pPr>
            <a:r>
              <a:rPr lang="en-US" dirty="0"/>
              <a:t>	1. Batch Gradient Descent</a:t>
            </a:r>
          </a:p>
          <a:p>
            <a:pPr marL="0" indent="0">
              <a:buNone/>
            </a:pPr>
            <a:r>
              <a:rPr lang="en-US" dirty="0"/>
              <a:t>	2. Stochastic Gradient Descent</a:t>
            </a:r>
          </a:p>
          <a:p>
            <a:pPr marL="0" indent="0">
              <a:buNone/>
            </a:pPr>
            <a:r>
              <a:rPr lang="en-US" dirty="0"/>
              <a:t>	3. Mini batch Gradient Descent</a:t>
            </a:r>
          </a:p>
          <a:p>
            <a:endParaRPr lang="en-US" dirty="0"/>
          </a:p>
        </p:txBody>
      </p:sp>
    </p:spTree>
    <p:extLst>
      <p:ext uri="{BB962C8B-B14F-4D97-AF65-F5344CB8AC3E}">
        <p14:creationId xmlns:p14="http://schemas.microsoft.com/office/powerpoint/2010/main" val="1029334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1)Batch Gradient Descent</a:t>
            </a:r>
            <a:endParaRPr lang="en-US" sz="4000" dirty="0"/>
          </a:p>
        </p:txBody>
      </p:sp>
      <p:sp>
        <p:nvSpPr>
          <p:cNvPr id="3" name="Content Placeholder 2"/>
          <p:cNvSpPr>
            <a:spLocks noGrp="1"/>
          </p:cNvSpPr>
          <p:nvPr>
            <p:ph idx="1"/>
          </p:nvPr>
        </p:nvSpPr>
        <p:spPr/>
        <p:txBody>
          <a:bodyPr/>
          <a:lstStyle/>
          <a:p>
            <a:r>
              <a:rPr lang="en-US" dirty="0"/>
              <a:t>In the batch gradient, we use the entire dataset to compute the gradient of the cost function for each iteration of the gradient descent and then update the weights.</a:t>
            </a:r>
          </a:p>
          <a:p>
            <a:r>
              <a:rPr lang="en-US" dirty="0"/>
              <a:t>Since we use the entire dataset to compute the gradient convergence is slow.</a:t>
            </a:r>
          </a:p>
          <a:p>
            <a:r>
              <a:rPr lang="en-US" dirty="0"/>
              <a:t>If the dataset is huge and contains millions or billions of data points then it is memory as well as computationally intensive.</a:t>
            </a:r>
          </a:p>
        </p:txBody>
      </p:sp>
    </p:spTree>
    <p:extLst>
      <p:ext uri="{BB962C8B-B14F-4D97-AF65-F5344CB8AC3E}">
        <p14:creationId xmlns:p14="http://schemas.microsoft.com/office/powerpoint/2010/main" val="60834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287338"/>
            <a:ext cx="10515600" cy="5889625"/>
          </a:xfrm>
        </p:spPr>
        <p:txBody>
          <a:bodyPr/>
          <a:lstStyle/>
          <a:p>
            <a:pPr marL="0" indent="0">
              <a:buNone/>
            </a:pPr>
            <a:r>
              <a:rPr lang="en-US" b="1" dirty="0"/>
              <a:t>Advantages of Batch Gradient Descent</a:t>
            </a:r>
          </a:p>
          <a:p>
            <a:r>
              <a:rPr lang="en-US" dirty="0"/>
              <a:t>Theoretical analysis of weights and convergence rates are easy to understand</a:t>
            </a:r>
          </a:p>
          <a:p>
            <a:pPr marL="0" indent="0">
              <a:buNone/>
            </a:pPr>
            <a:endParaRPr lang="en-US" dirty="0"/>
          </a:p>
          <a:p>
            <a:pPr marL="0" indent="0">
              <a:buNone/>
            </a:pPr>
            <a:r>
              <a:rPr lang="en-US" b="1" dirty="0"/>
              <a:t>Disadvantages of Batch Gradient Descent</a:t>
            </a:r>
          </a:p>
          <a:p>
            <a:r>
              <a:rPr lang="en-US" dirty="0"/>
              <a:t>Perform redundant computation for the same training example for large datasets</a:t>
            </a:r>
          </a:p>
          <a:p>
            <a:r>
              <a:rPr lang="en-US" dirty="0"/>
              <a:t>Can be very slow and intractable as large datasets may not fit in the memory</a:t>
            </a:r>
          </a:p>
          <a:p>
            <a:r>
              <a:rPr lang="en-US" dirty="0"/>
              <a:t>As we take the entire dataset for computation we can update the weights of the model for the new data.</a:t>
            </a:r>
          </a:p>
        </p:txBody>
      </p:sp>
    </p:spTree>
    <p:extLst>
      <p:ext uri="{BB962C8B-B14F-4D97-AF65-F5344CB8AC3E}">
        <p14:creationId xmlns:p14="http://schemas.microsoft.com/office/powerpoint/2010/main" val="3495776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normAutofit/>
          </a:bodyPr>
          <a:lstStyle/>
          <a:p>
            <a:r>
              <a:rPr lang="en-US" sz="4000" dirty="0"/>
              <a:t>2)</a:t>
            </a:r>
            <a:r>
              <a:rPr lang="en-US" sz="4000" b="1" dirty="0"/>
              <a:t> Stochastic Gradient descent</a:t>
            </a:r>
            <a:endParaRPr lang="en-US" sz="4000" dirty="0"/>
          </a:p>
        </p:txBody>
      </p:sp>
      <p:sp>
        <p:nvSpPr>
          <p:cNvPr id="3" name="Content Placeholder 2"/>
          <p:cNvSpPr>
            <a:spLocks noGrp="1"/>
          </p:cNvSpPr>
          <p:nvPr>
            <p:ph idx="1"/>
          </p:nvPr>
        </p:nvSpPr>
        <p:spPr>
          <a:xfrm>
            <a:off x="838200" y="1188720"/>
            <a:ext cx="10515600" cy="4988243"/>
          </a:xfrm>
        </p:spPr>
        <p:txBody>
          <a:bodyPr/>
          <a:lstStyle/>
          <a:p>
            <a:r>
              <a:rPr lang="en-US" dirty="0"/>
              <a:t>In stochastic gradient descent, instead of taking the whole dataset for each iteration, we randomly select the batches of data.</a:t>
            </a:r>
          </a:p>
          <a:p>
            <a:r>
              <a:rPr lang="en-US" dirty="0"/>
              <a:t>SGD uses a higher number of iterations to reach the local minima. Due to an increase in the number of iterations, the overall computation time increases. But even after increasing the number of iterations, the computation cost is still less than that of the gradient descent optimizer.</a:t>
            </a:r>
          </a:p>
          <a:p>
            <a:r>
              <a:rPr lang="en-US" dirty="0"/>
              <a:t> It tries to update the model’s parameters more frequently. In this, the model parameters are altered after the computation of loss on each training example. So, if the dataset contains 1000 rows SGD will update the model parameters 1000 times in one cycle of a dataset instead of one time as in Gradient Descent</a:t>
            </a:r>
          </a:p>
        </p:txBody>
      </p:sp>
    </p:spTree>
    <p:extLst>
      <p:ext uri="{BB962C8B-B14F-4D97-AF65-F5344CB8AC3E}">
        <p14:creationId xmlns:p14="http://schemas.microsoft.com/office/powerpoint/2010/main" val="413347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83326" y="313509"/>
            <a:ext cx="10870474" cy="5863454"/>
          </a:xfrm>
        </p:spPr>
        <p:txBody>
          <a:bodyPr/>
          <a:lstStyle/>
          <a:p>
            <a:pPr marL="0" indent="0">
              <a:buNone/>
            </a:pPr>
            <a:r>
              <a:rPr lang="en-US" b="1" dirty="0"/>
              <a:t>Advantages of SGD:</a:t>
            </a:r>
          </a:p>
          <a:p>
            <a:r>
              <a:rPr lang="en-US" dirty="0"/>
              <a:t>Frequent updates of model parameters hence converge in less time.</a:t>
            </a:r>
          </a:p>
          <a:p>
            <a:r>
              <a:rPr lang="en-US" dirty="0"/>
              <a:t>Requires less memory as no need to store values of loss functions.</a:t>
            </a:r>
          </a:p>
          <a:p>
            <a:r>
              <a:rPr lang="en-US" dirty="0"/>
              <a:t>May get new minima’s.</a:t>
            </a:r>
          </a:p>
          <a:p>
            <a:pPr marL="0" indent="0">
              <a:buNone/>
            </a:pPr>
            <a:endParaRPr lang="en-US" dirty="0"/>
          </a:p>
          <a:p>
            <a:pPr marL="0" indent="0">
              <a:buNone/>
            </a:pPr>
            <a:r>
              <a:rPr lang="en-US" b="1" dirty="0"/>
              <a:t>Disadvantages:</a:t>
            </a:r>
          </a:p>
          <a:p>
            <a:r>
              <a:rPr lang="en-US" dirty="0"/>
              <a:t>High variance in model parameters.</a:t>
            </a:r>
          </a:p>
          <a:p>
            <a:r>
              <a:rPr lang="en-US" dirty="0"/>
              <a:t>May shoot even after achieving global minima.</a:t>
            </a:r>
          </a:p>
          <a:p>
            <a:r>
              <a:rPr lang="en-US" dirty="0"/>
              <a:t>To get the same convergence as gradient descent needs to slowly reduce the value of the learning rate.</a:t>
            </a:r>
          </a:p>
          <a:p>
            <a:endParaRPr lang="en-US" dirty="0"/>
          </a:p>
        </p:txBody>
      </p:sp>
    </p:spTree>
    <p:extLst>
      <p:ext uri="{BB962C8B-B14F-4D97-AF65-F5344CB8AC3E}">
        <p14:creationId xmlns:p14="http://schemas.microsoft.com/office/powerpoint/2010/main" val="494184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3)Mini batch Gradient Descent</a:t>
            </a:r>
          </a:p>
        </p:txBody>
      </p:sp>
      <p:sp>
        <p:nvSpPr>
          <p:cNvPr id="3" name="Content Placeholder 2"/>
          <p:cNvSpPr>
            <a:spLocks noGrp="1"/>
          </p:cNvSpPr>
          <p:nvPr>
            <p:ph idx="1"/>
          </p:nvPr>
        </p:nvSpPr>
        <p:spPr>
          <a:xfrm>
            <a:off x="838200" y="1528354"/>
            <a:ext cx="10515600" cy="4648609"/>
          </a:xfrm>
        </p:spPr>
        <p:txBody>
          <a:bodyPr/>
          <a:lstStyle/>
          <a:p>
            <a:r>
              <a:rPr lang="en-US" dirty="0"/>
              <a:t>In this variant of gradient descent instead of taking all the training data, only a subset of the dataset is used for calculating the loss function. </a:t>
            </a:r>
          </a:p>
          <a:p>
            <a:r>
              <a:rPr lang="en-US" dirty="0"/>
              <a:t>Since we are using a batch of data instead of taking the whole dataset, fewer iterations are needed. That is why the mini-batch gradient descent algorithm is faster than both stochastic gradient descent and batch gradient descent algorithms.</a:t>
            </a:r>
          </a:p>
          <a:p>
            <a:r>
              <a:rPr lang="en-US" dirty="0"/>
              <a:t>Default mini batch is 32</a:t>
            </a:r>
          </a:p>
        </p:txBody>
      </p:sp>
    </p:spTree>
    <p:extLst>
      <p:ext uri="{BB962C8B-B14F-4D97-AF65-F5344CB8AC3E}">
        <p14:creationId xmlns:p14="http://schemas.microsoft.com/office/powerpoint/2010/main" val="769820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339725"/>
            <a:ext cx="10896600" cy="5837238"/>
          </a:xfrm>
        </p:spPr>
        <p:txBody>
          <a:bodyPr/>
          <a:lstStyle/>
          <a:p>
            <a:pPr marL="0" indent="0">
              <a:buNone/>
            </a:pPr>
            <a:r>
              <a:rPr lang="en-US" b="1" dirty="0"/>
              <a:t>Advantages:</a:t>
            </a:r>
          </a:p>
          <a:p>
            <a:r>
              <a:rPr lang="en-US" dirty="0"/>
              <a:t>Frequently updates the model parameters and also has less variance.</a:t>
            </a:r>
          </a:p>
          <a:p>
            <a:r>
              <a:rPr lang="en-US" dirty="0"/>
              <a:t>Requires medium amount of memory.</a:t>
            </a:r>
          </a:p>
          <a:p>
            <a:pPr marL="0" indent="0">
              <a:buNone/>
            </a:pPr>
            <a:endParaRPr lang="en-US" dirty="0"/>
          </a:p>
          <a:p>
            <a:pPr marL="0" indent="0">
              <a:buNone/>
            </a:pPr>
            <a:r>
              <a:rPr lang="en-US" b="1" dirty="0"/>
              <a:t>All types of Gradient Descent have some challenges:</a:t>
            </a:r>
          </a:p>
          <a:p>
            <a:r>
              <a:rPr lang="en-US" dirty="0"/>
              <a:t>Choosing an optimum value of the learning rate. If the learning rate is too small then gradient descent may take ages to converge.</a:t>
            </a:r>
          </a:p>
          <a:p>
            <a:r>
              <a:rPr lang="en-US" dirty="0"/>
              <a:t>Have a constant learning rate for all the parameters. There may be some parameters that we may not want to change at the same rate.</a:t>
            </a:r>
          </a:p>
          <a:p>
            <a:r>
              <a:rPr lang="en-US" dirty="0"/>
              <a:t>May get trapped at local minima.</a:t>
            </a:r>
          </a:p>
          <a:p>
            <a:endParaRPr lang="en-US" dirty="0"/>
          </a:p>
        </p:txBody>
      </p:sp>
    </p:spTree>
    <p:extLst>
      <p:ext uri="{BB962C8B-B14F-4D97-AF65-F5344CB8AC3E}">
        <p14:creationId xmlns:p14="http://schemas.microsoft.com/office/powerpoint/2010/main" val="81811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8593"/>
          </a:xfrm>
        </p:spPr>
        <p:txBody>
          <a:bodyPr>
            <a:noAutofit/>
          </a:bodyPr>
          <a:lstStyle/>
          <a:p>
            <a:r>
              <a:rPr lang="en-US" sz="4000" b="1" dirty="0"/>
              <a:t>Other Types of Optimizers</a:t>
            </a:r>
          </a:p>
        </p:txBody>
      </p:sp>
      <p:sp>
        <p:nvSpPr>
          <p:cNvPr id="3" name="Content Placeholder 2"/>
          <p:cNvSpPr>
            <a:spLocks noGrp="1"/>
          </p:cNvSpPr>
          <p:nvPr>
            <p:ph idx="1"/>
          </p:nvPr>
        </p:nvSpPr>
        <p:spPr>
          <a:xfrm>
            <a:off x="838200" y="1021976"/>
            <a:ext cx="10515600" cy="5154987"/>
          </a:xfrm>
        </p:spPr>
        <p:txBody>
          <a:bodyPr>
            <a:normAutofit fontScale="85000" lnSpcReduction="20000"/>
          </a:bodyPr>
          <a:lstStyle/>
          <a:p>
            <a:pPr marL="514350" indent="-514350">
              <a:buAutoNum type="arabicParenR"/>
            </a:pPr>
            <a:r>
              <a:rPr lang="en-US" b="1" dirty="0"/>
              <a:t>Momentum :	</a:t>
            </a:r>
          </a:p>
          <a:p>
            <a:r>
              <a:rPr lang="en-US" dirty="0"/>
              <a:t>Momentum was invented for reducing high variance in SGD and softens the convergence. It accelerates the convergence towards the relevant direction and reduces the fluctuation to the irrelevant direction. One more </a:t>
            </a:r>
            <a:r>
              <a:rPr lang="en-US" dirty="0" err="1"/>
              <a:t>hyperparameter</a:t>
            </a:r>
            <a:r>
              <a:rPr lang="en-US" dirty="0"/>
              <a:t> is used in this method known as momentum symbolized by ‘</a:t>
            </a:r>
            <a:r>
              <a:rPr lang="en-US" b="1" dirty="0"/>
              <a:t>γ</a:t>
            </a:r>
            <a:r>
              <a:rPr lang="en-US" dirty="0"/>
              <a:t>’.</a:t>
            </a:r>
          </a:p>
          <a:p>
            <a:r>
              <a:rPr lang="en-US" dirty="0"/>
              <a:t>The momentum term </a:t>
            </a:r>
            <a:r>
              <a:rPr lang="en-US" b="1" dirty="0"/>
              <a:t>γ</a:t>
            </a:r>
            <a:r>
              <a:rPr lang="en-US" dirty="0"/>
              <a:t> is usually set to 0.9 or a similar value.</a:t>
            </a:r>
          </a:p>
          <a:p>
            <a:pPr marL="0" indent="0">
              <a:buNone/>
            </a:pPr>
            <a:endParaRPr lang="en-US" dirty="0"/>
          </a:p>
          <a:p>
            <a:pPr marL="0" indent="0">
              <a:buNone/>
            </a:pPr>
            <a:r>
              <a:rPr lang="en-US" b="1" dirty="0"/>
              <a:t>Advantages</a:t>
            </a:r>
            <a:r>
              <a:rPr lang="en-US" dirty="0"/>
              <a:t>:</a:t>
            </a:r>
          </a:p>
          <a:p>
            <a:r>
              <a:rPr lang="en-US" dirty="0"/>
              <a:t>Reduces the oscillations and high variance of the parameters.</a:t>
            </a:r>
          </a:p>
          <a:p>
            <a:r>
              <a:rPr lang="en-US" dirty="0"/>
              <a:t>Converges faster than gradient descent.</a:t>
            </a:r>
          </a:p>
          <a:p>
            <a:pPr marL="0" indent="0">
              <a:buNone/>
            </a:pPr>
            <a:endParaRPr lang="en-US" dirty="0"/>
          </a:p>
          <a:p>
            <a:pPr marL="0" indent="0">
              <a:buNone/>
            </a:pPr>
            <a:r>
              <a:rPr lang="en-US" b="1" dirty="0"/>
              <a:t>Disadvantages</a:t>
            </a:r>
            <a:r>
              <a:rPr lang="en-US" dirty="0"/>
              <a:t>:</a:t>
            </a:r>
          </a:p>
          <a:p>
            <a:r>
              <a:rPr lang="en-US" dirty="0"/>
              <a:t>One more hyper-parameter is added which needs to be selected manually and accurately.</a:t>
            </a:r>
          </a:p>
          <a:p>
            <a:endParaRPr lang="en-US" dirty="0"/>
          </a:p>
          <a:p>
            <a:endParaRPr lang="en-US" b="1" dirty="0"/>
          </a:p>
          <a:p>
            <a:pPr marL="0" indent="0">
              <a:buNone/>
            </a:pPr>
            <a:endParaRPr lang="en-US" b="1" dirty="0"/>
          </a:p>
        </p:txBody>
      </p:sp>
    </p:spTree>
    <p:extLst>
      <p:ext uri="{BB962C8B-B14F-4D97-AF65-F5344CB8AC3E}">
        <p14:creationId xmlns:p14="http://schemas.microsoft.com/office/powerpoint/2010/main" val="16825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47568"/>
          </a:xfrm>
        </p:spPr>
        <p:txBody>
          <a:bodyPr>
            <a:normAutofit fontScale="90000"/>
          </a:bodyPr>
          <a:lstStyle/>
          <a:p>
            <a:r>
              <a:rPr lang="en-US" b="1" dirty="0"/>
              <a:t>2)</a:t>
            </a:r>
            <a:r>
              <a:rPr lang="en-US" b="1" dirty="0" err="1"/>
              <a:t>Nesterov</a:t>
            </a:r>
            <a:r>
              <a:rPr lang="en-US" b="1" dirty="0"/>
              <a:t> Accelerated Gradient</a:t>
            </a:r>
          </a:p>
        </p:txBody>
      </p:sp>
      <p:sp>
        <p:nvSpPr>
          <p:cNvPr id="3" name="Content Placeholder 2"/>
          <p:cNvSpPr>
            <a:spLocks noGrp="1"/>
          </p:cNvSpPr>
          <p:nvPr>
            <p:ph idx="1"/>
          </p:nvPr>
        </p:nvSpPr>
        <p:spPr>
          <a:xfrm>
            <a:off x="838200" y="1021976"/>
            <a:ext cx="10515600" cy="5154987"/>
          </a:xfrm>
        </p:spPr>
        <p:txBody>
          <a:bodyPr>
            <a:normAutofit lnSpcReduction="10000"/>
          </a:bodyPr>
          <a:lstStyle/>
          <a:p>
            <a:r>
              <a:rPr lang="en-US" dirty="0"/>
              <a:t>Momentum may be a good method but if the momentum is too high the algorithm may miss the local minima and may continue to rise up. So, to resolve this issue the NAG algorithm was developed. It is a look ahead method. We know we’ll be using </a:t>
            </a:r>
            <a:r>
              <a:rPr lang="en-US" b="1" dirty="0" err="1"/>
              <a:t>γV</a:t>
            </a:r>
            <a:r>
              <a:rPr lang="en-US" b="1" dirty="0"/>
              <a:t>(t−1) </a:t>
            </a:r>
            <a:r>
              <a:rPr lang="en-US" dirty="0"/>
              <a:t>for modifying the weights.</a:t>
            </a:r>
          </a:p>
          <a:p>
            <a:pPr marL="0" indent="0">
              <a:buNone/>
            </a:pPr>
            <a:endParaRPr lang="en-US" dirty="0"/>
          </a:p>
          <a:p>
            <a:pPr marL="0" indent="0">
              <a:buNone/>
            </a:pPr>
            <a:r>
              <a:rPr lang="en-US" b="1" dirty="0"/>
              <a:t>Advantages</a:t>
            </a:r>
            <a:r>
              <a:rPr lang="en-US" dirty="0"/>
              <a:t>:</a:t>
            </a:r>
          </a:p>
          <a:p>
            <a:r>
              <a:rPr lang="en-US" dirty="0"/>
              <a:t>Does not miss the local minima.</a:t>
            </a:r>
          </a:p>
          <a:p>
            <a:r>
              <a:rPr lang="en-US" dirty="0"/>
              <a:t>Slows if minima’s are occurring.</a:t>
            </a:r>
          </a:p>
          <a:p>
            <a:pPr marL="0" indent="0">
              <a:buNone/>
            </a:pPr>
            <a:endParaRPr lang="en-US" b="1" dirty="0"/>
          </a:p>
          <a:p>
            <a:pPr marL="0" indent="0">
              <a:buNone/>
            </a:pPr>
            <a:r>
              <a:rPr lang="en-US" b="1" dirty="0"/>
              <a:t>Disadvantages</a:t>
            </a:r>
            <a:r>
              <a:rPr lang="en-US" dirty="0"/>
              <a:t>:</a:t>
            </a:r>
          </a:p>
          <a:p>
            <a:r>
              <a:rPr lang="en-US" dirty="0"/>
              <a:t>Still, the </a:t>
            </a:r>
            <a:r>
              <a:rPr lang="en-US" dirty="0" err="1"/>
              <a:t>hyperparameter</a:t>
            </a:r>
            <a:r>
              <a:rPr lang="en-US" dirty="0"/>
              <a:t> needs to be selected manually.</a:t>
            </a:r>
          </a:p>
          <a:p>
            <a:endParaRPr lang="en-US" dirty="0"/>
          </a:p>
        </p:txBody>
      </p:sp>
    </p:spTree>
    <p:extLst>
      <p:ext uri="{BB962C8B-B14F-4D97-AF65-F5344CB8AC3E}">
        <p14:creationId xmlns:p14="http://schemas.microsoft.com/office/powerpoint/2010/main" val="1774000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3072"/>
            <a:ext cx="10515600" cy="6142232"/>
          </a:xfrm>
        </p:spPr>
        <p:txBody>
          <a:bodyPr>
            <a:normAutofit lnSpcReduction="10000"/>
          </a:bodyPr>
          <a:lstStyle/>
          <a:p>
            <a:pPr marL="0" indent="0">
              <a:buNone/>
            </a:pPr>
            <a:r>
              <a:rPr lang="en-US" b="1" dirty="0"/>
              <a:t>3)</a:t>
            </a:r>
            <a:r>
              <a:rPr lang="en-US" b="1" dirty="0" err="1"/>
              <a:t>Adagrad</a:t>
            </a:r>
            <a:r>
              <a:rPr lang="en-US" b="1" dirty="0"/>
              <a:t> (Adaptive Gradient Descent) :</a:t>
            </a:r>
          </a:p>
          <a:p>
            <a:pPr marL="0" indent="0">
              <a:buNone/>
            </a:pPr>
            <a:r>
              <a:rPr lang="en-US" b="1" dirty="0"/>
              <a:t>	</a:t>
            </a:r>
            <a:r>
              <a:rPr lang="en-US" dirty="0"/>
              <a:t>The adaptive gradient descent algorithm is slightly different from other gradient descent algorithms. This is because it uses different learning rates for each iteration. The change in learning rate depends upon the difference in the parameters during training. The more the parameters get change, the more minor the learning rate changes</a:t>
            </a:r>
            <a:endParaRPr lang="en-US" b="1" dirty="0"/>
          </a:p>
          <a:p>
            <a:pPr marL="0" indent="0">
              <a:buNone/>
            </a:pPr>
            <a:r>
              <a:rPr lang="en-US" b="1" dirty="0"/>
              <a:t>Advantages:</a:t>
            </a:r>
          </a:p>
          <a:p>
            <a:r>
              <a:rPr lang="en-US" dirty="0"/>
              <a:t>Learning rate changes for each training parameter.</a:t>
            </a:r>
          </a:p>
          <a:p>
            <a:r>
              <a:rPr lang="en-US" dirty="0"/>
              <a:t>Don’t need to manually tune the learning rate.</a:t>
            </a:r>
          </a:p>
          <a:p>
            <a:r>
              <a:rPr lang="en-US" dirty="0"/>
              <a:t>Able to train on sparse data.</a:t>
            </a:r>
          </a:p>
          <a:p>
            <a:pPr marL="0" indent="0">
              <a:buNone/>
            </a:pPr>
            <a:r>
              <a:rPr lang="en-US" b="1" dirty="0"/>
              <a:t>Disadvantages:</a:t>
            </a:r>
          </a:p>
          <a:p>
            <a:r>
              <a:rPr lang="en-US" dirty="0"/>
              <a:t>Computationally expensive is a need to calculate the second-order derivative.</a:t>
            </a:r>
          </a:p>
          <a:p>
            <a:r>
              <a:rPr lang="en-US" dirty="0"/>
              <a:t>The learning rate is always decreasing results in slow training.</a:t>
            </a:r>
          </a:p>
          <a:p>
            <a:endParaRPr lang="en-US" dirty="0"/>
          </a:p>
        </p:txBody>
      </p:sp>
    </p:spTree>
    <p:extLst>
      <p:ext uri="{BB962C8B-B14F-4D97-AF65-F5344CB8AC3E}">
        <p14:creationId xmlns:p14="http://schemas.microsoft.com/office/powerpoint/2010/main" val="2413978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5828"/>
          </a:xfrm>
        </p:spPr>
        <p:txBody>
          <a:bodyPr>
            <a:normAutofit fontScale="90000"/>
          </a:bodyPr>
          <a:lstStyle/>
          <a:p>
            <a:r>
              <a:rPr lang="en-US" sz="3300" b="1" dirty="0"/>
              <a:t>4) RMS Prop(Root Mean Square) / </a:t>
            </a:r>
            <a:r>
              <a:rPr lang="en-US" sz="3300" b="1" dirty="0" err="1"/>
              <a:t>Adadelta</a:t>
            </a:r>
            <a:endParaRPr lang="en-US" sz="3300" b="1" dirty="0"/>
          </a:p>
        </p:txBody>
      </p:sp>
      <p:sp>
        <p:nvSpPr>
          <p:cNvPr id="3" name="Content Placeholder 2"/>
          <p:cNvSpPr>
            <a:spLocks noGrp="1"/>
          </p:cNvSpPr>
          <p:nvPr>
            <p:ph idx="1"/>
          </p:nvPr>
        </p:nvSpPr>
        <p:spPr>
          <a:xfrm>
            <a:off x="838200" y="1169894"/>
            <a:ext cx="10515600" cy="5007069"/>
          </a:xfrm>
        </p:spPr>
        <p:txBody>
          <a:bodyPr/>
          <a:lstStyle/>
          <a:p>
            <a:r>
              <a:rPr lang="en-US" dirty="0" err="1"/>
              <a:t>Adadelta</a:t>
            </a:r>
            <a:r>
              <a:rPr lang="en-US" dirty="0"/>
              <a:t>/</a:t>
            </a:r>
            <a:r>
              <a:rPr lang="en-US" dirty="0" err="1"/>
              <a:t>RMSProp</a:t>
            </a:r>
            <a:r>
              <a:rPr lang="en-US" dirty="0"/>
              <a:t> are very similar in their implementation and they overcome the shortcomings of </a:t>
            </a:r>
            <a:r>
              <a:rPr lang="en-US" dirty="0" err="1"/>
              <a:t>Adagrad’s</a:t>
            </a:r>
            <a:r>
              <a:rPr lang="en-US" dirty="0"/>
              <a:t> accumulated gradient by using exponentially weighted moving average gradients.</a:t>
            </a:r>
          </a:p>
          <a:p>
            <a:r>
              <a:rPr lang="en-US" dirty="0"/>
              <a:t>RMS prop is one of the popular optimizers among deep learning enthusiasts. This is maybe because it hasn’t been published but still very well know in the community. RMS prop is ideally an extension of the work RPPROP. RPPROP resolves the problem of varying gradients.</a:t>
            </a:r>
          </a:p>
          <a:p>
            <a:r>
              <a:rPr lang="en-US" dirty="0"/>
              <a:t>The problem with RMS Prop / </a:t>
            </a:r>
            <a:r>
              <a:rPr lang="en-US" dirty="0" err="1"/>
              <a:t>adadelta</a:t>
            </a:r>
            <a:r>
              <a:rPr lang="en-US" dirty="0"/>
              <a:t> is that the learning rate has to be defined manually and the suggested value doesn’t work for every application.</a:t>
            </a:r>
          </a:p>
        </p:txBody>
      </p:sp>
    </p:spTree>
    <p:extLst>
      <p:ext uri="{BB962C8B-B14F-4D97-AF65-F5344CB8AC3E}">
        <p14:creationId xmlns:p14="http://schemas.microsoft.com/office/powerpoint/2010/main" val="3267996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5828"/>
          </a:xfrm>
        </p:spPr>
        <p:txBody>
          <a:bodyPr>
            <a:normAutofit fontScale="90000"/>
          </a:bodyPr>
          <a:lstStyle/>
          <a:p>
            <a:r>
              <a:rPr lang="en-US" b="1" dirty="0"/>
              <a:t>5) Adam</a:t>
            </a:r>
          </a:p>
        </p:txBody>
      </p:sp>
      <p:sp>
        <p:nvSpPr>
          <p:cNvPr id="3" name="Content Placeholder 2"/>
          <p:cNvSpPr>
            <a:spLocks noGrp="1"/>
          </p:cNvSpPr>
          <p:nvPr>
            <p:ph idx="1"/>
          </p:nvPr>
        </p:nvSpPr>
        <p:spPr>
          <a:xfrm>
            <a:off x="524435" y="1075765"/>
            <a:ext cx="10829365" cy="5365376"/>
          </a:xfrm>
        </p:spPr>
        <p:txBody>
          <a:bodyPr>
            <a:normAutofit lnSpcReduction="10000"/>
          </a:bodyPr>
          <a:lstStyle/>
          <a:p>
            <a:r>
              <a:rPr lang="en-US" dirty="0"/>
              <a:t>The name </a:t>
            </a:r>
            <a:r>
              <a:rPr lang="en-US" dirty="0" err="1"/>
              <a:t>adam</a:t>
            </a:r>
            <a:r>
              <a:rPr lang="en-US" dirty="0"/>
              <a:t> is derived from (Adaptive Moment Estimation). This optimization algorithm is a further extension of stochastic gradient descent to update network weights during training. </a:t>
            </a:r>
          </a:p>
          <a:p>
            <a:r>
              <a:rPr lang="en-US" b="1" dirty="0"/>
              <a:t>Adam = RMSPROP </a:t>
            </a:r>
            <a:r>
              <a:rPr lang="en-US" b="1"/>
              <a:t>+ ADAGRAD</a:t>
            </a:r>
            <a:endParaRPr lang="en-US" b="1" dirty="0"/>
          </a:p>
          <a:p>
            <a:r>
              <a:rPr lang="en-US" dirty="0"/>
              <a:t>Unlike maintaining a single learning rate through training in SGD, Adam optimizer updates the learning rate for each network weight individually. </a:t>
            </a:r>
          </a:p>
          <a:p>
            <a:r>
              <a:rPr lang="en-US" dirty="0"/>
              <a:t>The creators of the Adam optimization algorithm know the benefits of </a:t>
            </a:r>
            <a:r>
              <a:rPr lang="en-US" dirty="0" err="1"/>
              <a:t>AdaGrad</a:t>
            </a:r>
            <a:r>
              <a:rPr lang="en-US" dirty="0"/>
              <a:t> and </a:t>
            </a:r>
            <a:r>
              <a:rPr lang="en-US" dirty="0" err="1"/>
              <a:t>RMSProp</a:t>
            </a:r>
            <a:r>
              <a:rPr lang="en-US" dirty="0"/>
              <a:t> algorithms, which are also extensions of the stochastic gradient descent algorithms. Hence the Adam optimizers inherit the features of both </a:t>
            </a:r>
            <a:r>
              <a:rPr lang="en-US" dirty="0" err="1"/>
              <a:t>Adagrad</a:t>
            </a:r>
            <a:r>
              <a:rPr lang="en-US" dirty="0"/>
              <a:t> and RMS prop algorithms. In </a:t>
            </a:r>
            <a:r>
              <a:rPr lang="en-US" dirty="0" err="1"/>
              <a:t>adam</a:t>
            </a:r>
            <a:r>
              <a:rPr lang="en-US" dirty="0"/>
              <a:t>, instead of adapting learning rates based upon the first moment(mean) as in RMS Prop, it also uses the second moment of the gradient</a:t>
            </a:r>
          </a:p>
        </p:txBody>
      </p:sp>
    </p:spTree>
    <p:extLst>
      <p:ext uri="{BB962C8B-B14F-4D97-AF65-F5344CB8AC3E}">
        <p14:creationId xmlns:p14="http://schemas.microsoft.com/office/powerpoint/2010/main" val="1017439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9282"/>
            <a:ext cx="10515600" cy="5867681"/>
          </a:xfrm>
        </p:spPr>
        <p:txBody>
          <a:bodyPr/>
          <a:lstStyle/>
          <a:p>
            <a:pPr marL="0" indent="0">
              <a:buNone/>
            </a:pPr>
            <a:r>
              <a:rPr lang="en-US" b="1" dirty="0"/>
              <a:t>Advantages</a:t>
            </a:r>
            <a:r>
              <a:rPr lang="en-US" dirty="0"/>
              <a:t>:</a:t>
            </a:r>
          </a:p>
          <a:p>
            <a:r>
              <a:rPr lang="en-US" dirty="0"/>
              <a:t>The method is too fast and converges rapidly.</a:t>
            </a:r>
          </a:p>
          <a:p>
            <a:r>
              <a:rPr lang="en-US" dirty="0"/>
              <a:t>Rectifies vanishing learning rate, high variance.</a:t>
            </a:r>
          </a:p>
          <a:p>
            <a:pPr marL="0" indent="0">
              <a:buNone/>
            </a:pPr>
            <a:endParaRPr lang="en-US" b="1" dirty="0"/>
          </a:p>
          <a:p>
            <a:pPr marL="0" indent="0">
              <a:buNone/>
            </a:pPr>
            <a:r>
              <a:rPr lang="en-US" b="1" dirty="0"/>
              <a:t>Disadvantages</a:t>
            </a:r>
            <a:r>
              <a:rPr lang="en-US" dirty="0"/>
              <a:t>:</a:t>
            </a:r>
          </a:p>
          <a:p>
            <a:r>
              <a:rPr lang="en-US" dirty="0"/>
              <a:t>Computationally costly.</a:t>
            </a:r>
          </a:p>
        </p:txBody>
      </p:sp>
    </p:spTree>
    <p:extLst>
      <p:ext uri="{BB962C8B-B14F-4D97-AF65-F5344CB8AC3E}">
        <p14:creationId xmlns:p14="http://schemas.microsoft.com/office/powerpoint/2010/main" val="3757824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4766"/>
            <a:ext cx="10515600" cy="5602197"/>
          </a:xfrm>
        </p:spPr>
        <p:txBody>
          <a:bodyPr>
            <a:normAutofit fontScale="92500" lnSpcReduction="20000"/>
          </a:bodyPr>
          <a:lstStyle/>
          <a:p>
            <a:pPr marL="0" indent="0">
              <a:buNone/>
            </a:pPr>
            <a:r>
              <a:rPr lang="en-US" b="1" dirty="0"/>
              <a:t>Summary</a:t>
            </a:r>
            <a:r>
              <a:rPr lang="en-US" dirty="0"/>
              <a:t>:</a:t>
            </a:r>
          </a:p>
          <a:p>
            <a:r>
              <a:rPr lang="en-US" dirty="0"/>
              <a:t>SGD is a very basic algorithm and is hardly used in applications now due to its slow computation speed. One more problem with that algorithm is the constant learning rate for every epoch. Moreover, it is not able to handle saddle points very well.</a:t>
            </a:r>
          </a:p>
          <a:p>
            <a:r>
              <a:rPr lang="en-US" dirty="0"/>
              <a:t> </a:t>
            </a:r>
            <a:r>
              <a:rPr lang="en-US" dirty="0" err="1"/>
              <a:t>Adagrad</a:t>
            </a:r>
            <a:r>
              <a:rPr lang="en-US" dirty="0"/>
              <a:t> works better than stochastic gradient descent generally due to frequent updates in the learning rate. It is best when used for dealing with sparse data. </a:t>
            </a:r>
          </a:p>
          <a:p>
            <a:r>
              <a:rPr lang="en-US" dirty="0" err="1"/>
              <a:t>RMSProp</a:t>
            </a:r>
            <a:r>
              <a:rPr lang="en-US" dirty="0"/>
              <a:t> shows similar results to that of gradient descent algorithm with momentum, just differs the way by which the gradients are calculated. </a:t>
            </a:r>
          </a:p>
          <a:p>
            <a:r>
              <a:rPr lang="en-US" dirty="0"/>
              <a:t>Lastly comes the Adam optimizer that inherits the good features of </a:t>
            </a:r>
            <a:r>
              <a:rPr lang="en-US" dirty="0" err="1"/>
              <a:t>RMSProp</a:t>
            </a:r>
            <a:r>
              <a:rPr lang="en-US" dirty="0"/>
              <a:t> and other algorithms. The results of the Adam optimizer are generally better than every other optimization algorithms, have faster computation time, and require fewer parameters for tuning. Because of all that, Adam is recommended as the default optimizer for most of the applications. Choosing the Adam optimizer for your application might give you the best probability of getting the best results</a:t>
            </a:r>
          </a:p>
        </p:txBody>
      </p:sp>
    </p:spTree>
    <p:extLst>
      <p:ext uri="{BB962C8B-B14F-4D97-AF65-F5344CB8AC3E}">
        <p14:creationId xmlns:p14="http://schemas.microsoft.com/office/powerpoint/2010/main" val="1292219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1603</Words>
  <Application>Microsoft Office PowerPoint</Application>
  <PresentationFormat>Widescreen</PresentationFormat>
  <Paragraphs>111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OPTIMIZERS</vt:lpstr>
      <vt:lpstr>1)Gradient Descent</vt:lpstr>
      <vt:lpstr>PowerPoint Presentation</vt:lpstr>
      <vt:lpstr>Types of Gradient Descent</vt:lpstr>
      <vt:lpstr>1)Batch Gradient Descent</vt:lpstr>
      <vt:lpstr>PowerPoint Presentation</vt:lpstr>
      <vt:lpstr>2) Stochastic Gradient descent</vt:lpstr>
      <vt:lpstr>PowerPoint Presentation</vt:lpstr>
      <vt:lpstr>3)Mini batch Gradient Descent</vt:lpstr>
      <vt:lpstr>PowerPoint Presentation</vt:lpstr>
      <vt:lpstr>Other Types of Optimizers</vt:lpstr>
      <vt:lpstr>2)Nesterov Accelerated Gradient</vt:lpstr>
      <vt:lpstr>PowerPoint Presentation</vt:lpstr>
      <vt:lpstr>4) RMS Prop(Root Mean Square) / Adadelta</vt:lpstr>
      <vt:lpstr>5) Adam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OPTIMIZERS</dc:title>
  <dc:creator>Ajith</dc:creator>
  <cp:lastModifiedBy>B AJITH</cp:lastModifiedBy>
  <cp:revision>55</cp:revision>
  <dcterms:created xsi:type="dcterms:W3CDTF">2022-09-21T16:47:43Z</dcterms:created>
  <dcterms:modified xsi:type="dcterms:W3CDTF">2023-09-18T05:17:05Z</dcterms:modified>
</cp:coreProperties>
</file>