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4340449-2D0B-4B64-9966-30234E99B39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987526-713E-44F1-9F4D-7BEE39F72AB3}" type="slidenum">
              <a:rPr lang="en-US" smtClean="0"/>
              <a:t>‹#›</a:t>
            </a:fld>
            <a:endParaRPr lang="en-US"/>
          </a:p>
        </p:txBody>
      </p:sp>
    </p:spTree>
    <p:extLst>
      <p:ext uri="{BB962C8B-B14F-4D97-AF65-F5344CB8AC3E}">
        <p14:creationId xmlns:p14="http://schemas.microsoft.com/office/powerpoint/2010/main" val="102116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340449-2D0B-4B64-9966-30234E99B39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987526-713E-44F1-9F4D-7BEE39F72AB3}" type="slidenum">
              <a:rPr lang="en-US" smtClean="0"/>
              <a:t>‹#›</a:t>
            </a:fld>
            <a:endParaRPr lang="en-US"/>
          </a:p>
        </p:txBody>
      </p:sp>
    </p:spTree>
    <p:extLst>
      <p:ext uri="{BB962C8B-B14F-4D97-AF65-F5344CB8AC3E}">
        <p14:creationId xmlns:p14="http://schemas.microsoft.com/office/powerpoint/2010/main" val="2359216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4340449-2D0B-4B64-9966-30234E99B39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987526-713E-44F1-9F4D-7BEE39F72AB3}" type="slidenum">
              <a:rPr lang="en-US" smtClean="0"/>
              <a:t>‹#›</a:t>
            </a:fld>
            <a:endParaRPr lang="en-US"/>
          </a:p>
        </p:txBody>
      </p:sp>
    </p:spTree>
    <p:extLst>
      <p:ext uri="{BB962C8B-B14F-4D97-AF65-F5344CB8AC3E}">
        <p14:creationId xmlns:p14="http://schemas.microsoft.com/office/powerpoint/2010/main" val="3589399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4340449-2D0B-4B64-9966-30234E99B395}" type="datetimeFigureOut">
              <a:rPr lang="en-US" smtClean="0"/>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987526-713E-44F1-9F4D-7BEE39F72AB3}" type="slidenum">
              <a:rPr lang="en-US" smtClean="0"/>
              <a:t>‹#›</a:t>
            </a:fld>
            <a:endParaRPr lang="en-US"/>
          </a:p>
        </p:txBody>
      </p:sp>
    </p:spTree>
    <p:extLst>
      <p:ext uri="{BB962C8B-B14F-4D97-AF65-F5344CB8AC3E}">
        <p14:creationId xmlns:p14="http://schemas.microsoft.com/office/powerpoint/2010/main" val="3530478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4340449-2D0B-4B64-9966-30234E99B395}" type="datetimeFigureOut">
              <a:rPr lang="en-US" smtClean="0"/>
              <a:t>9/20/2022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987526-713E-44F1-9F4D-7BEE39F72AB3}" type="slidenum">
              <a:rPr lang="en-US" smtClean="0"/>
              <a:t>‹#›</a:t>
            </a:fld>
            <a:endParaRPr lang="en-US"/>
          </a:p>
        </p:txBody>
      </p:sp>
    </p:spTree>
    <p:extLst>
      <p:ext uri="{BB962C8B-B14F-4D97-AF65-F5344CB8AC3E}">
        <p14:creationId xmlns:p14="http://schemas.microsoft.com/office/powerpoint/2010/main" val="157859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4340449-2D0B-4B64-9966-30234E99B395}" type="datetimeFigureOut">
              <a:rPr lang="en-US" smtClean="0"/>
              <a:t>9/20/2022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987526-713E-44F1-9F4D-7BEE39F72AB3}" type="slidenum">
              <a:rPr lang="en-US" smtClean="0"/>
              <a:t>‹#›</a:t>
            </a:fld>
            <a:endParaRPr lang="en-US"/>
          </a:p>
        </p:txBody>
      </p:sp>
    </p:spTree>
    <p:extLst>
      <p:ext uri="{BB962C8B-B14F-4D97-AF65-F5344CB8AC3E}">
        <p14:creationId xmlns:p14="http://schemas.microsoft.com/office/powerpoint/2010/main" val="3436599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340449-2D0B-4B64-9966-30234E99B395}" type="datetimeFigureOut">
              <a:rPr lang="en-US" smtClean="0"/>
              <a:t>9/20/2022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E987526-713E-44F1-9F4D-7BEE39F72AB3}" type="slidenum">
              <a:rPr lang="en-US" smtClean="0"/>
              <a:t>‹#›</a:t>
            </a:fld>
            <a:endParaRPr lang="en-US"/>
          </a:p>
        </p:txBody>
      </p:sp>
    </p:spTree>
    <p:extLst>
      <p:ext uri="{BB962C8B-B14F-4D97-AF65-F5344CB8AC3E}">
        <p14:creationId xmlns:p14="http://schemas.microsoft.com/office/powerpoint/2010/main" val="4098031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4340449-2D0B-4B64-9966-30234E99B395}" type="datetimeFigureOut">
              <a:rPr lang="en-US" smtClean="0"/>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987526-713E-44F1-9F4D-7BEE39F72AB3}" type="slidenum">
              <a:rPr lang="en-US" smtClean="0"/>
              <a:t>‹#›</a:t>
            </a:fld>
            <a:endParaRPr lang="en-US"/>
          </a:p>
        </p:txBody>
      </p:sp>
    </p:spTree>
    <p:extLst>
      <p:ext uri="{BB962C8B-B14F-4D97-AF65-F5344CB8AC3E}">
        <p14:creationId xmlns:p14="http://schemas.microsoft.com/office/powerpoint/2010/main" val="1236567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4340449-2D0B-4B64-9966-30234E99B395}" type="datetimeFigureOut">
              <a:rPr lang="en-US" smtClean="0"/>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987526-713E-44F1-9F4D-7BEE39F72AB3}" type="slidenum">
              <a:rPr lang="en-US" smtClean="0"/>
              <a:t>‹#›</a:t>
            </a:fld>
            <a:endParaRPr lang="en-US"/>
          </a:p>
        </p:txBody>
      </p:sp>
    </p:spTree>
    <p:extLst>
      <p:ext uri="{BB962C8B-B14F-4D97-AF65-F5344CB8AC3E}">
        <p14:creationId xmlns:p14="http://schemas.microsoft.com/office/powerpoint/2010/main" val="2765448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340449-2D0B-4B64-9966-30234E99B39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987526-713E-44F1-9F4D-7BEE39F72AB3}" type="slidenum">
              <a:rPr lang="en-US" smtClean="0"/>
              <a:t>‹#›</a:t>
            </a:fld>
            <a:endParaRPr lang="en-US"/>
          </a:p>
        </p:txBody>
      </p:sp>
    </p:spTree>
    <p:extLst>
      <p:ext uri="{BB962C8B-B14F-4D97-AF65-F5344CB8AC3E}">
        <p14:creationId xmlns:p14="http://schemas.microsoft.com/office/powerpoint/2010/main" val="2997429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340449-2D0B-4B64-9966-30234E99B39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987526-713E-44F1-9F4D-7BEE39F72AB3}" type="slidenum">
              <a:rPr lang="en-US" smtClean="0"/>
              <a:t>‹#›</a:t>
            </a:fld>
            <a:endParaRPr lang="en-US"/>
          </a:p>
        </p:txBody>
      </p:sp>
    </p:spTree>
    <p:extLst>
      <p:ext uri="{BB962C8B-B14F-4D97-AF65-F5344CB8AC3E}">
        <p14:creationId xmlns:p14="http://schemas.microsoft.com/office/powerpoint/2010/main" val="1026194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340449-2D0B-4B64-9966-30234E99B395}" type="datetimeFigureOut">
              <a:rPr lang="en-US" smtClean="0"/>
              <a:t>9/20/2022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987526-713E-44F1-9F4D-7BEE39F72AB3}" type="slidenum">
              <a:rPr lang="en-US" smtClean="0"/>
              <a:t>‹#›</a:t>
            </a:fld>
            <a:endParaRPr lang="en-US"/>
          </a:p>
        </p:txBody>
      </p:sp>
    </p:spTree>
    <p:extLst>
      <p:ext uri="{BB962C8B-B14F-4D97-AF65-F5344CB8AC3E}">
        <p14:creationId xmlns:p14="http://schemas.microsoft.com/office/powerpoint/2010/main" val="954037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v7labs.com/blog/image-classification-guide"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v7labs.com/blog/what-is-computer-vision"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13508" y="313509"/>
            <a:ext cx="11599817" cy="6139542"/>
          </a:xfrm>
        </p:spPr>
        <p:txBody>
          <a:bodyPr>
            <a:normAutofit/>
          </a:bodyPr>
          <a:lstStyle/>
          <a:p>
            <a:r>
              <a:rPr lang="en-US" sz="3800" b="1" dirty="0" smtClean="0"/>
              <a:t>Activation function</a:t>
            </a:r>
            <a:endParaRPr lang="en-US" sz="3800" b="1" dirty="0"/>
          </a:p>
          <a:p>
            <a:pPr marL="342900" indent="-342900" algn="l">
              <a:buFont typeface="Arial" panose="020B0604020202020204" pitchFamily="34" charset="0"/>
              <a:buChar char="•"/>
            </a:pPr>
            <a:endParaRPr lang="en-US" dirty="0" smtClean="0"/>
          </a:p>
          <a:p>
            <a:pPr marL="342900" indent="-342900" algn="l">
              <a:buFont typeface="Arial" panose="020B0604020202020204" pitchFamily="34" charset="0"/>
              <a:buChar char="•"/>
            </a:pPr>
            <a:r>
              <a:rPr lang="en-US" dirty="0" smtClean="0"/>
              <a:t>purpose of an activation function is to add non-linearity to the neural network.</a:t>
            </a:r>
          </a:p>
          <a:p>
            <a:pPr marL="342900" indent="-342900" algn="l">
              <a:buFont typeface="Arial" panose="020B0604020202020204" pitchFamily="34" charset="0"/>
              <a:buChar char="•"/>
            </a:pPr>
            <a:r>
              <a:rPr lang="en-US" dirty="0" smtClean="0"/>
              <a:t>An Activation Function decides whether a neuron should be activated or not.</a:t>
            </a:r>
          </a:p>
          <a:p>
            <a:pPr marL="342900" indent="-342900" algn="l">
              <a:buFont typeface="Arial" panose="020B0604020202020204" pitchFamily="34" charset="0"/>
              <a:buChar char="•"/>
            </a:pPr>
            <a:r>
              <a:rPr lang="en-US" dirty="0" smtClean="0"/>
              <a:t>This means that it will decide whether the neuron’s  input to the network is important or not in the process of prediction using simpler mathematical operations.</a:t>
            </a:r>
          </a:p>
          <a:p>
            <a:pPr marL="342900" indent="-342900" algn="l">
              <a:buFont typeface="Arial" panose="020B0604020202020204" pitchFamily="34" charset="0"/>
              <a:buChar char="•"/>
            </a:pPr>
            <a:r>
              <a:rPr lang="en-US" dirty="0" smtClean="0"/>
              <a:t>The role of the Activation Function is to derive output from a set of input values fed to a node (or a layer)</a:t>
            </a:r>
          </a:p>
          <a:p>
            <a:pPr marL="342900" indent="-342900" algn="l">
              <a:buFont typeface="Arial" panose="020B0604020202020204" pitchFamily="34" charset="0"/>
              <a:buChar char="•"/>
            </a:pPr>
            <a:r>
              <a:rPr lang="en-US" dirty="0" smtClean="0"/>
              <a:t>The primary role of the Activation Function is to transform the summed weighted input from the node into an output value to be fed to the next hidden layer or as output. </a:t>
            </a:r>
            <a:endParaRPr lang="en-US" dirty="0"/>
          </a:p>
        </p:txBody>
      </p:sp>
    </p:spTree>
    <p:extLst>
      <p:ext uri="{BB962C8B-B14F-4D97-AF65-F5344CB8AC3E}">
        <p14:creationId xmlns:p14="http://schemas.microsoft.com/office/powerpoint/2010/main" val="14419992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8372"/>
            <a:ext cx="10515600" cy="706028"/>
          </a:xfrm>
        </p:spPr>
        <p:txBody>
          <a:bodyPr>
            <a:normAutofit/>
          </a:bodyPr>
          <a:lstStyle/>
          <a:p>
            <a:r>
              <a:rPr lang="en-US" sz="2700" b="1" dirty="0" smtClean="0"/>
              <a:t>1)Linear Activation Function:</a:t>
            </a:r>
            <a:endParaRPr lang="en-US" sz="2700" b="1" dirty="0"/>
          </a:p>
        </p:txBody>
      </p:sp>
      <p:sp>
        <p:nvSpPr>
          <p:cNvPr id="3" name="Content Placeholder 2"/>
          <p:cNvSpPr>
            <a:spLocks noGrp="1"/>
          </p:cNvSpPr>
          <p:nvPr>
            <p:ph idx="1"/>
          </p:nvPr>
        </p:nvSpPr>
        <p:spPr>
          <a:xfrm>
            <a:off x="838200" y="809898"/>
            <a:ext cx="10515600" cy="5682342"/>
          </a:xfrm>
        </p:spPr>
        <p:txBody>
          <a:bodyPr>
            <a:normAutofit/>
          </a:bodyPr>
          <a:lstStyle/>
          <a:p>
            <a:pPr marL="0" indent="0">
              <a:buNone/>
            </a:pPr>
            <a:endParaRPr lang="en-US" dirty="0" smtClean="0"/>
          </a:p>
          <a:p>
            <a:r>
              <a:rPr lang="en-US" sz="1700" dirty="0" smtClean="0"/>
              <a:t>The linear activation function, also known as "no activation," or "identity function" (multiplied x1.0), is where the activation is proportional to the input.</a:t>
            </a:r>
          </a:p>
          <a:p>
            <a:r>
              <a:rPr lang="en-US" sz="1700" dirty="0" smtClean="0"/>
              <a:t>The function doesn't do anything to the weighted sum of the input, it simply spits out the value it was given.</a:t>
            </a:r>
          </a:p>
          <a:p>
            <a:pPr marL="0" indent="0">
              <a:buNone/>
            </a:pPr>
            <a:endParaRPr lang="en-US" sz="1700" dirty="0"/>
          </a:p>
          <a:p>
            <a:pPr marL="0" indent="0">
              <a:buNone/>
            </a:pPr>
            <a:r>
              <a:rPr lang="en-US" sz="1700" b="1" dirty="0" smtClean="0"/>
              <a:t>formula :</a:t>
            </a:r>
          </a:p>
          <a:p>
            <a:pPr marL="0" indent="0">
              <a:buNone/>
            </a:pPr>
            <a:r>
              <a:rPr lang="en-US" sz="1700" dirty="0" smtClean="0"/>
              <a:t>	f(x)=x</a:t>
            </a:r>
          </a:p>
          <a:p>
            <a:pPr marL="0" indent="0">
              <a:buNone/>
            </a:pPr>
            <a:endParaRPr lang="en-US" sz="1700" dirty="0"/>
          </a:p>
          <a:p>
            <a:pPr marL="0" indent="0">
              <a:buNone/>
            </a:pPr>
            <a:r>
              <a:rPr lang="en-US" sz="1700" b="1" dirty="0"/>
              <a:t>D</a:t>
            </a:r>
            <a:r>
              <a:rPr lang="en-US" sz="1700" b="1" dirty="0" smtClean="0"/>
              <a:t>rawbacks:</a:t>
            </a:r>
            <a:endParaRPr lang="en-US" sz="1700" dirty="0" smtClean="0"/>
          </a:p>
          <a:p>
            <a:r>
              <a:rPr lang="en-US" sz="1700" dirty="0" smtClean="0"/>
              <a:t>It’s not possible to use backpropagation as the derivative of the function is a constant and has no relation to the input x.</a:t>
            </a:r>
          </a:p>
          <a:p>
            <a:r>
              <a:rPr lang="en-US" sz="1700" dirty="0" smtClean="0"/>
              <a:t>All layers of the neural network will collapse into one if a linear activation function is used. </a:t>
            </a:r>
          </a:p>
          <a:p>
            <a:r>
              <a:rPr lang="en-US" sz="1700" dirty="0" smtClean="0"/>
              <a:t>No matter the number of layers in the neural network, the last layer will still be a linear function of the first layer.</a:t>
            </a:r>
          </a:p>
          <a:p>
            <a:r>
              <a:rPr lang="en-US" sz="1700" dirty="0" smtClean="0"/>
              <a:t> So, essentially, a linear activation function turns the neural network into just one layer.</a:t>
            </a:r>
            <a:endParaRPr lang="en-US" sz="1700" dirty="0"/>
          </a:p>
        </p:txBody>
      </p:sp>
    </p:spTree>
    <p:extLst>
      <p:ext uri="{BB962C8B-B14F-4D97-AF65-F5344CB8AC3E}">
        <p14:creationId xmlns:p14="http://schemas.microsoft.com/office/powerpoint/2010/main" val="40271936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5719"/>
          </a:xfrm>
        </p:spPr>
        <p:txBody>
          <a:bodyPr>
            <a:normAutofit fontScale="90000"/>
          </a:bodyPr>
          <a:lstStyle/>
          <a:p>
            <a:r>
              <a:rPr lang="en-US" dirty="0" smtClean="0"/>
              <a:t/>
            </a:r>
            <a:br>
              <a:rPr lang="en-US" dirty="0" smtClean="0"/>
            </a:br>
            <a:r>
              <a:rPr lang="en-US" sz="3100" b="1" dirty="0" smtClean="0"/>
              <a:t>2)Binary Step Function:</a:t>
            </a:r>
            <a:endParaRPr lang="en-US" sz="3100" b="1" dirty="0"/>
          </a:p>
        </p:txBody>
      </p:sp>
      <p:sp>
        <p:nvSpPr>
          <p:cNvPr id="3" name="Content Placeholder 2"/>
          <p:cNvSpPr>
            <a:spLocks noGrp="1"/>
          </p:cNvSpPr>
          <p:nvPr>
            <p:ph idx="1"/>
          </p:nvPr>
        </p:nvSpPr>
        <p:spPr>
          <a:xfrm>
            <a:off x="838200" y="783771"/>
            <a:ext cx="10515600" cy="5393192"/>
          </a:xfrm>
        </p:spPr>
        <p:txBody>
          <a:bodyPr/>
          <a:lstStyle/>
          <a:p>
            <a:pPr marL="0" indent="0">
              <a:buNone/>
            </a:pPr>
            <a:endParaRPr lang="en-US" dirty="0" smtClean="0"/>
          </a:p>
          <a:p>
            <a:r>
              <a:rPr lang="en-US" sz="1800" dirty="0" smtClean="0"/>
              <a:t>Binary step function depends on a threshold value that decides whether a neuron should be activated or not.</a:t>
            </a:r>
          </a:p>
          <a:p>
            <a:r>
              <a:rPr lang="en-US" sz="1800" dirty="0" smtClean="0"/>
              <a:t>The input fed to the activation function is compared to a certain threshold; if the input is greater than it, then the neuron is activated,</a:t>
            </a:r>
          </a:p>
          <a:p>
            <a:r>
              <a:rPr lang="en-US" sz="1800" dirty="0" smtClean="0"/>
              <a:t>else it is deactivated, meaning that its output is not passed on to the next hidden layer.</a:t>
            </a:r>
          </a:p>
          <a:p>
            <a:pPr marL="0" indent="0">
              <a:buNone/>
            </a:pPr>
            <a:endParaRPr lang="en-US" sz="1800" dirty="0" smtClean="0"/>
          </a:p>
          <a:p>
            <a:pPr marL="0" indent="0">
              <a:buNone/>
            </a:pPr>
            <a:r>
              <a:rPr lang="en-US" sz="1800" b="1" dirty="0" smtClean="0"/>
              <a:t>formula :</a:t>
            </a:r>
          </a:p>
          <a:p>
            <a:pPr marL="0" indent="0">
              <a:buNone/>
            </a:pPr>
            <a:r>
              <a:rPr lang="en-US" sz="1800" dirty="0" smtClean="0"/>
              <a:t>	f(x)= 0 for  x&lt;0</a:t>
            </a:r>
          </a:p>
          <a:p>
            <a:pPr marL="0" indent="0">
              <a:buNone/>
            </a:pPr>
            <a:r>
              <a:rPr lang="en-US" sz="1800" dirty="0"/>
              <a:t>	 </a:t>
            </a:r>
            <a:r>
              <a:rPr lang="en-US" sz="1800" dirty="0" smtClean="0"/>
              <a:t>        1 for  x&gt;=0</a:t>
            </a:r>
          </a:p>
          <a:p>
            <a:pPr marL="0" indent="0">
              <a:buNone/>
            </a:pPr>
            <a:endParaRPr lang="en-US" sz="1800" dirty="0"/>
          </a:p>
          <a:p>
            <a:pPr marL="0" indent="0">
              <a:buNone/>
            </a:pPr>
            <a:r>
              <a:rPr lang="en-US" sz="1800" b="1" dirty="0" smtClean="0"/>
              <a:t>drawbacks:</a:t>
            </a:r>
          </a:p>
          <a:p>
            <a:r>
              <a:rPr lang="en-US" sz="1800" dirty="0" smtClean="0"/>
              <a:t>It cannot provide multi-value outputs—for example, it cannot be used for multi-class classification problems. </a:t>
            </a:r>
          </a:p>
          <a:p>
            <a:r>
              <a:rPr lang="en-US" sz="1800" dirty="0" smtClean="0"/>
              <a:t>The gradient of the step function is zero, which causes a hindrance in the backpropagation process.</a:t>
            </a:r>
            <a:endParaRPr lang="en-US" sz="1800" dirty="0"/>
          </a:p>
        </p:txBody>
      </p:sp>
    </p:spTree>
    <p:extLst>
      <p:ext uri="{BB962C8B-B14F-4D97-AF65-F5344CB8AC3E}">
        <p14:creationId xmlns:p14="http://schemas.microsoft.com/office/powerpoint/2010/main" val="39280046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31709"/>
          </a:xfrm>
        </p:spPr>
        <p:txBody>
          <a:bodyPr>
            <a:normAutofit fontScale="90000"/>
          </a:bodyPr>
          <a:lstStyle/>
          <a:p>
            <a:r>
              <a:rPr lang="en-US" sz="2800" b="1" dirty="0" smtClean="0"/>
              <a:t>3)Non-Linear Activation Functions:</a:t>
            </a:r>
            <a:endParaRPr lang="en-US" sz="2800" b="1" dirty="0"/>
          </a:p>
        </p:txBody>
      </p:sp>
      <p:sp>
        <p:nvSpPr>
          <p:cNvPr id="3" name="Content Placeholder 2"/>
          <p:cNvSpPr>
            <a:spLocks noGrp="1"/>
          </p:cNvSpPr>
          <p:nvPr>
            <p:ph idx="1"/>
          </p:nvPr>
        </p:nvSpPr>
        <p:spPr>
          <a:xfrm>
            <a:off x="838200" y="966651"/>
            <a:ext cx="10515600" cy="5210312"/>
          </a:xfrm>
        </p:spPr>
        <p:txBody>
          <a:bodyPr>
            <a:normAutofit/>
          </a:bodyPr>
          <a:lstStyle/>
          <a:p>
            <a:r>
              <a:rPr lang="en-US" sz="1800" dirty="0" smtClean="0"/>
              <a:t>They allow backpropagation because now the derivative function would be related to the input, and it’s possible to go back and understand which weights in the input neurons can provide a better prediction.</a:t>
            </a:r>
          </a:p>
          <a:p>
            <a:r>
              <a:rPr lang="en-US" sz="1800" dirty="0" smtClean="0"/>
              <a:t>They allow the stacking of multiple layers of neurons as the output would now be a non-linear combination of input passed through multiple layers. </a:t>
            </a:r>
          </a:p>
          <a:p>
            <a:r>
              <a:rPr lang="en-US" sz="1800" dirty="0" smtClean="0"/>
              <a:t>Any output can be represented as a functional computation in a neural network.</a:t>
            </a:r>
          </a:p>
          <a:p>
            <a:endParaRPr lang="en-US" sz="1800" dirty="0"/>
          </a:p>
          <a:p>
            <a:pPr marL="0" indent="0">
              <a:buNone/>
            </a:pPr>
            <a:r>
              <a:rPr lang="en-US" sz="1800" b="1" dirty="0" err="1" smtClean="0"/>
              <a:t>i</a:t>
            </a:r>
            <a:r>
              <a:rPr lang="en-US" sz="1800" b="1" dirty="0" smtClean="0"/>
              <a:t>)Sigmoid / Logistic Activation Function :</a:t>
            </a:r>
          </a:p>
          <a:p>
            <a:r>
              <a:rPr lang="en-US" sz="1800" dirty="0" smtClean="0"/>
              <a:t>It is commonly used for models where we have to predict the probability as an output.</a:t>
            </a:r>
          </a:p>
          <a:p>
            <a:r>
              <a:rPr lang="en-US" sz="1800" dirty="0" smtClean="0"/>
              <a:t>Since probability of anything exists only between the range of 0 and 1, sigmoid is the right choice because of its range.</a:t>
            </a:r>
          </a:p>
          <a:p>
            <a:r>
              <a:rPr lang="en-US" sz="1800" dirty="0" smtClean="0"/>
              <a:t>The function is differentiable and provides a smooth gradient, i.e., preventing jumps in output values. </a:t>
            </a:r>
          </a:p>
          <a:p>
            <a:r>
              <a:rPr lang="en-US" sz="1800" dirty="0" smtClean="0"/>
              <a:t>This is represented by an S-shape of the sigmoid activation function. </a:t>
            </a:r>
          </a:p>
          <a:p>
            <a:r>
              <a:rPr lang="en-US" sz="1800" dirty="0" smtClean="0"/>
              <a:t>This function takes any real value as input and outputs values in the range of 0 to 1. </a:t>
            </a:r>
          </a:p>
          <a:p>
            <a:r>
              <a:rPr lang="en-US" sz="1800" dirty="0" smtClean="0"/>
              <a:t>The larger the input (more positive), the closer the output value will be to 1.0, whereas the smaller the input (more negative), the closer the output will be to 0.0</a:t>
            </a:r>
            <a:endParaRPr lang="en-US" sz="1800" dirty="0"/>
          </a:p>
        </p:txBody>
      </p:sp>
    </p:spTree>
    <p:extLst>
      <p:ext uri="{BB962C8B-B14F-4D97-AF65-F5344CB8AC3E}">
        <p14:creationId xmlns:p14="http://schemas.microsoft.com/office/powerpoint/2010/main" val="42633016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7200"/>
            <a:ext cx="10515600" cy="5719763"/>
          </a:xfrm>
        </p:spPr>
        <p:txBody>
          <a:bodyPr/>
          <a:lstStyle/>
          <a:p>
            <a:pPr marL="0" indent="0">
              <a:buNone/>
            </a:pPr>
            <a:endParaRPr lang="en-US" b="1" dirty="0" smtClean="0"/>
          </a:p>
          <a:p>
            <a:pPr marL="0" indent="0">
              <a:buNone/>
            </a:pPr>
            <a:r>
              <a:rPr lang="en-US" sz="2000" b="1" dirty="0" smtClean="0"/>
              <a:t>Formula of sigmoid :</a:t>
            </a:r>
            <a:endParaRPr lang="en-US" sz="2000" b="1" dirty="0"/>
          </a:p>
          <a:p>
            <a:pPr marL="0" indent="0">
              <a:buNone/>
            </a:pPr>
            <a:endParaRPr lang="en-US" b="1" dirty="0" smtClean="0"/>
          </a:p>
          <a:p>
            <a:pPr marL="0" indent="0">
              <a:buNone/>
            </a:pPr>
            <a:endParaRPr lang="en-US" b="1" dirty="0"/>
          </a:p>
          <a:p>
            <a:pPr marL="0" indent="0">
              <a:buNone/>
            </a:pPr>
            <a:endParaRPr lang="en-US" b="1" dirty="0" smtClean="0"/>
          </a:p>
          <a:p>
            <a:pPr marL="0" indent="0">
              <a:buNone/>
            </a:pPr>
            <a:r>
              <a:rPr lang="en-US" sz="2000" b="1" dirty="0" smtClean="0"/>
              <a:t>Drawbacks :</a:t>
            </a:r>
          </a:p>
          <a:p>
            <a:pPr marL="0" indent="0">
              <a:buNone/>
            </a:pPr>
            <a:endParaRPr lang="en-US" b="1" dirty="0" smtClean="0"/>
          </a:p>
          <a:p>
            <a:r>
              <a:rPr lang="en-US" sz="1800" dirty="0" smtClean="0"/>
              <a:t>The output of the logistic function is not symmetric around zero. So the output of all the neurons will be of the same sign.</a:t>
            </a:r>
          </a:p>
          <a:p>
            <a:r>
              <a:rPr lang="en-US" sz="1800" dirty="0" smtClean="0"/>
              <a:t>This makes the training of the neural network more difficult and unstable.</a:t>
            </a:r>
          </a:p>
          <a:p>
            <a:endParaRPr lang="en-US" sz="1800" dirty="0"/>
          </a:p>
          <a:p>
            <a:endParaRPr lang="en-US" sz="1800" dirty="0" smtClean="0"/>
          </a:p>
          <a:p>
            <a:pPr marL="0" indent="0">
              <a:buNone/>
            </a:pPr>
            <a:endParaRPr lang="en-US" sz="18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82488" y="1240971"/>
            <a:ext cx="2295797" cy="2350633"/>
          </a:xfrm>
          <a:prstGeom prst="rect">
            <a:avLst/>
          </a:prstGeom>
        </p:spPr>
      </p:pic>
    </p:spTree>
    <p:extLst>
      <p:ext uri="{BB962C8B-B14F-4D97-AF65-F5344CB8AC3E}">
        <p14:creationId xmlns:p14="http://schemas.microsoft.com/office/powerpoint/2010/main" val="7171132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09641"/>
          </a:xfrm>
        </p:spPr>
        <p:txBody>
          <a:bodyPr>
            <a:normAutofit fontScale="90000"/>
          </a:bodyPr>
          <a:lstStyle/>
          <a:p>
            <a:r>
              <a:rPr lang="en-US" dirty="0" smtClean="0"/>
              <a:t/>
            </a:r>
            <a:br>
              <a:rPr lang="en-US" dirty="0" smtClean="0"/>
            </a:br>
            <a:r>
              <a:rPr lang="en-US" sz="2800" b="1" dirty="0" smtClean="0"/>
              <a:t>ii)</a:t>
            </a:r>
            <a:r>
              <a:rPr lang="en-US" sz="2800" b="1" dirty="0" err="1" smtClean="0"/>
              <a:t>Tanh</a:t>
            </a:r>
            <a:r>
              <a:rPr lang="en-US" sz="2800" b="1" dirty="0" smtClean="0"/>
              <a:t> Function (Hyperbolic Tangent):</a:t>
            </a:r>
            <a:endParaRPr lang="en-US" sz="2800" b="1" dirty="0"/>
          </a:p>
        </p:txBody>
      </p:sp>
      <p:sp>
        <p:nvSpPr>
          <p:cNvPr id="3" name="Content Placeholder 2"/>
          <p:cNvSpPr>
            <a:spLocks noGrp="1"/>
          </p:cNvSpPr>
          <p:nvPr>
            <p:ph idx="1"/>
          </p:nvPr>
        </p:nvSpPr>
        <p:spPr>
          <a:xfrm>
            <a:off x="838200" y="1136468"/>
            <a:ext cx="10515600" cy="5473337"/>
          </a:xfrm>
        </p:spPr>
        <p:txBody>
          <a:bodyPr>
            <a:normAutofit/>
          </a:bodyPr>
          <a:lstStyle/>
          <a:p>
            <a:r>
              <a:rPr lang="en-US" sz="1900" dirty="0" err="1" smtClean="0"/>
              <a:t>Tanh</a:t>
            </a:r>
            <a:r>
              <a:rPr lang="en-US" sz="1900" dirty="0" smtClean="0"/>
              <a:t> function is very similar to the sigmoid/logistic activation function, and even has the same S-shape with the difference in output range of -1 to 1. </a:t>
            </a:r>
          </a:p>
          <a:p>
            <a:r>
              <a:rPr lang="en-US" sz="1900" dirty="0" smtClean="0"/>
              <a:t>In </a:t>
            </a:r>
            <a:r>
              <a:rPr lang="en-US" sz="1900" dirty="0" err="1" smtClean="0"/>
              <a:t>Tanh</a:t>
            </a:r>
            <a:r>
              <a:rPr lang="en-US" sz="1900" dirty="0" smtClean="0"/>
              <a:t>, the larger the input (more positive), the closer the output value will be to 1.0, whereas the smaller the input (more negative),the closer the output will be to -1.0.</a:t>
            </a:r>
          </a:p>
          <a:p>
            <a:r>
              <a:rPr lang="en-US" sz="1900" dirty="0" smtClean="0"/>
              <a:t>The output of the </a:t>
            </a:r>
            <a:r>
              <a:rPr lang="en-US" sz="1900" dirty="0" err="1" smtClean="0"/>
              <a:t>tanh</a:t>
            </a:r>
            <a:r>
              <a:rPr lang="en-US" sz="1900" dirty="0" smtClean="0"/>
              <a:t> activation function is Zero centered; hence we can easily map the output values as strongly negative, neutral, or strongly positive.</a:t>
            </a:r>
          </a:p>
          <a:p>
            <a:r>
              <a:rPr lang="en-US" sz="1900" dirty="0" smtClean="0"/>
              <a:t>Usually used in hidden layers of a neural network as its values lie between -1 to 1 therefore, the mean for the hidden layer comes out to be 0 or very close to it.</a:t>
            </a:r>
          </a:p>
          <a:p>
            <a:r>
              <a:rPr lang="en-US" sz="1900" dirty="0" smtClean="0"/>
              <a:t>It helps in centering the data and makes learning for the next layer much easier.</a:t>
            </a:r>
          </a:p>
          <a:p>
            <a:pPr marL="0" indent="0">
              <a:buNone/>
            </a:pPr>
            <a:r>
              <a:rPr lang="en-US" sz="1800" b="1" dirty="0" smtClean="0"/>
              <a:t>Drawback:</a:t>
            </a:r>
          </a:p>
          <a:p>
            <a:pPr marL="0" indent="0">
              <a:buNone/>
            </a:pPr>
            <a:r>
              <a:rPr lang="en-US" sz="1800" b="1" dirty="0"/>
              <a:t>	</a:t>
            </a:r>
            <a:r>
              <a:rPr lang="en-US" sz="1600" dirty="0" smtClean="0"/>
              <a:t>I</a:t>
            </a:r>
            <a:r>
              <a:rPr lang="en-US" sz="1700" dirty="0" smtClean="0"/>
              <a:t>t </a:t>
            </a:r>
            <a:r>
              <a:rPr lang="en-US" sz="1700" dirty="0"/>
              <a:t>causes the Vanishing Gradient. It is non-zero centered. It is </a:t>
            </a:r>
            <a:r>
              <a:rPr lang="en-US" sz="1700" dirty="0" smtClean="0"/>
              <a:t>saturated</a:t>
            </a:r>
          </a:p>
          <a:p>
            <a:pPr marL="0" indent="0">
              <a:buNone/>
            </a:pPr>
            <a:endParaRPr lang="en-US" sz="1700" dirty="0"/>
          </a:p>
          <a:p>
            <a:pPr marL="0" indent="0">
              <a:buNone/>
            </a:pPr>
            <a:r>
              <a:rPr lang="en-US" sz="1700" b="1" dirty="0" smtClean="0"/>
              <a:t>Formula :</a:t>
            </a:r>
            <a:endParaRPr lang="en-US" sz="17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3838" y="4624252"/>
            <a:ext cx="3995601" cy="2795452"/>
          </a:xfrm>
          <a:prstGeom prst="rect">
            <a:avLst/>
          </a:prstGeom>
        </p:spPr>
      </p:pic>
    </p:spTree>
    <p:extLst>
      <p:ext uri="{BB962C8B-B14F-4D97-AF65-F5344CB8AC3E}">
        <p14:creationId xmlns:p14="http://schemas.microsoft.com/office/powerpoint/2010/main" val="36110348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7835"/>
          </a:xfrm>
        </p:spPr>
        <p:txBody>
          <a:bodyPr>
            <a:normAutofit fontScale="90000"/>
          </a:bodyPr>
          <a:lstStyle/>
          <a:p>
            <a:r>
              <a:rPr lang="en-US" sz="2800" b="1" dirty="0" smtClean="0"/>
              <a:t>iii)</a:t>
            </a:r>
            <a:r>
              <a:rPr lang="en-US" sz="2800" b="1" dirty="0"/>
              <a:t> </a:t>
            </a:r>
            <a:r>
              <a:rPr lang="en-US" sz="2800" b="1" dirty="0" err="1"/>
              <a:t>ReLU</a:t>
            </a:r>
            <a:r>
              <a:rPr lang="en-US" sz="2800" b="1" dirty="0"/>
              <a:t> </a:t>
            </a:r>
            <a:r>
              <a:rPr lang="en-US" sz="2800" b="1" dirty="0" smtClean="0"/>
              <a:t>Function:</a:t>
            </a:r>
            <a:endParaRPr lang="en-US" sz="2800" b="1" dirty="0"/>
          </a:p>
        </p:txBody>
      </p:sp>
      <p:sp>
        <p:nvSpPr>
          <p:cNvPr id="3" name="Content Placeholder 2"/>
          <p:cNvSpPr>
            <a:spLocks noGrp="1"/>
          </p:cNvSpPr>
          <p:nvPr>
            <p:ph idx="1"/>
          </p:nvPr>
        </p:nvSpPr>
        <p:spPr>
          <a:xfrm>
            <a:off x="838200" y="992777"/>
            <a:ext cx="10515600" cy="5210312"/>
          </a:xfrm>
        </p:spPr>
        <p:txBody>
          <a:bodyPr>
            <a:normAutofit/>
          </a:bodyPr>
          <a:lstStyle/>
          <a:p>
            <a:r>
              <a:rPr lang="en-US" sz="1800" dirty="0" err="1"/>
              <a:t>ReLU</a:t>
            </a:r>
            <a:r>
              <a:rPr lang="en-US" sz="1800" dirty="0"/>
              <a:t> stands for Rectified Linear Unit. </a:t>
            </a:r>
          </a:p>
          <a:p>
            <a:r>
              <a:rPr lang="en-US" sz="1800" dirty="0"/>
              <a:t>Although it gives an impression of a linear function, </a:t>
            </a:r>
            <a:r>
              <a:rPr lang="en-US" sz="1800" dirty="0" err="1"/>
              <a:t>ReLU</a:t>
            </a:r>
            <a:r>
              <a:rPr lang="en-US" sz="1800" dirty="0"/>
              <a:t> has a derivative function and allows for backpropagation while simultaneously making it computationally efficient. </a:t>
            </a:r>
          </a:p>
          <a:p>
            <a:r>
              <a:rPr lang="en-US" sz="1800" dirty="0"/>
              <a:t>The main catch here is that the </a:t>
            </a:r>
            <a:r>
              <a:rPr lang="en-US" sz="1800" dirty="0" err="1"/>
              <a:t>ReLU</a:t>
            </a:r>
            <a:r>
              <a:rPr lang="en-US" sz="1800" dirty="0"/>
              <a:t> function does not activate all the neurons at the same time</a:t>
            </a:r>
            <a:r>
              <a:rPr lang="en-US" sz="1800" dirty="0" smtClean="0"/>
              <a:t>.</a:t>
            </a:r>
            <a:endParaRPr lang="en-US" sz="1800" dirty="0"/>
          </a:p>
          <a:p>
            <a:r>
              <a:rPr lang="en-US" sz="1800" dirty="0"/>
              <a:t>The neurons will only be deactivated if the output of the linear transformation is less than 0</a:t>
            </a:r>
            <a:r>
              <a:rPr lang="en-US" sz="1800" dirty="0" smtClean="0"/>
              <a:t>.</a:t>
            </a:r>
          </a:p>
          <a:p>
            <a:pPr marL="0" indent="0">
              <a:buNone/>
            </a:pPr>
            <a:endParaRPr lang="en-US" sz="1800" dirty="0"/>
          </a:p>
          <a:p>
            <a:pPr marL="0" indent="0">
              <a:buNone/>
            </a:pPr>
            <a:r>
              <a:rPr lang="en-US" sz="1800" b="1" dirty="0" smtClean="0"/>
              <a:t>Formula :</a:t>
            </a:r>
            <a:endParaRPr lang="en-US" sz="1800" b="1" dirty="0"/>
          </a:p>
          <a:p>
            <a:endParaRPr lang="en-US" sz="18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8600" y="3344091"/>
            <a:ext cx="2767149" cy="2312125"/>
          </a:xfrm>
          <a:prstGeom prst="rect">
            <a:avLst/>
          </a:prstGeom>
        </p:spPr>
      </p:pic>
    </p:spTree>
    <p:extLst>
      <p:ext uri="{BB962C8B-B14F-4D97-AF65-F5344CB8AC3E}">
        <p14:creationId xmlns:p14="http://schemas.microsoft.com/office/powerpoint/2010/main" val="22078267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97024"/>
          </a:xfrm>
        </p:spPr>
        <p:txBody>
          <a:bodyPr>
            <a:normAutofit/>
          </a:bodyPr>
          <a:lstStyle/>
          <a:p>
            <a:r>
              <a:rPr lang="en-US" sz="2800" b="1" dirty="0"/>
              <a:t>The </a:t>
            </a:r>
            <a:r>
              <a:rPr lang="en-US" sz="2800" b="1" dirty="0" smtClean="0"/>
              <a:t>advantages of </a:t>
            </a:r>
            <a:r>
              <a:rPr lang="en-US" sz="2800" b="1" dirty="0" err="1" smtClean="0"/>
              <a:t>ReLU</a:t>
            </a:r>
            <a:r>
              <a:rPr lang="en-US" sz="2800" b="1" dirty="0" smtClean="0"/>
              <a:t> :</a:t>
            </a:r>
            <a:endParaRPr lang="en-US" sz="2800" b="1" dirty="0"/>
          </a:p>
        </p:txBody>
      </p:sp>
      <p:sp>
        <p:nvSpPr>
          <p:cNvPr id="3" name="Content Placeholder 2"/>
          <p:cNvSpPr>
            <a:spLocks noGrp="1"/>
          </p:cNvSpPr>
          <p:nvPr>
            <p:ph idx="1"/>
          </p:nvPr>
        </p:nvSpPr>
        <p:spPr>
          <a:xfrm>
            <a:off x="838200" y="862150"/>
            <a:ext cx="10515600" cy="5314813"/>
          </a:xfrm>
        </p:spPr>
        <p:txBody>
          <a:bodyPr/>
          <a:lstStyle/>
          <a:p>
            <a:r>
              <a:rPr lang="en-US" sz="1800" dirty="0"/>
              <a:t>Since only a certain number of neurons are activated, the </a:t>
            </a:r>
            <a:r>
              <a:rPr lang="en-US" sz="1800" dirty="0" err="1"/>
              <a:t>ReLU</a:t>
            </a:r>
            <a:r>
              <a:rPr lang="en-US" sz="1800" dirty="0"/>
              <a:t> function is far more computationally efficient when compared to the sigmoid and </a:t>
            </a:r>
            <a:r>
              <a:rPr lang="en-US" sz="1800" dirty="0" err="1"/>
              <a:t>tanh</a:t>
            </a:r>
            <a:r>
              <a:rPr lang="en-US" sz="1800" dirty="0"/>
              <a:t> functions.</a:t>
            </a:r>
          </a:p>
          <a:p>
            <a:r>
              <a:rPr lang="en-US" sz="1800" dirty="0" err="1"/>
              <a:t>ReLU</a:t>
            </a:r>
            <a:r>
              <a:rPr lang="en-US" sz="1800" dirty="0"/>
              <a:t> accelerates the convergence of gradient descent towards the global minimum of the loss function due to its linear, non-saturating property</a:t>
            </a:r>
            <a:r>
              <a:rPr lang="en-US" sz="1800" dirty="0" smtClean="0"/>
              <a:t>.</a:t>
            </a:r>
          </a:p>
          <a:p>
            <a:pPr marL="0" indent="0">
              <a:buNone/>
            </a:pPr>
            <a:endParaRPr lang="en-US" sz="1800" dirty="0"/>
          </a:p>
          <a:p>
            <a:pPr marL="0" indent="0">
              <a:buNone/>
            </a:pPr>
            <a:r>
              <a:rPr lang="en-US" b="1" dirty="0" smtClean="0"/>
              <a:t>Drawbacks :</a:t>
            </a:r>
          </a:p>
          <a:p>
            <a:r>
              <a:rPr lang="en-US" sz="1800" dirty="0"/>
              <a:t>The negative side of the graph makes the gradient value zero. Due to this reason, during the backpropagation process, the weights and biases for some neurons are not updated. This can create dead neurons which never get activated. </a:t>
            </a:r>
            <a:br>
              <a:rPr lang="en-US" sz="1800" dirty="0"/>
            </a:br>
            <a:endParaRPr lang="en-US" sz="1800" dirty="0"/>
          </a:p>
          <a:p>
            <a:r>
              <a:rPr lang="en-US" sz="1800" dirty="0"/>
              <a:t>All the negative input values become zero immediately, which decreases the model’s ability to fit or train from the data properly.</a:t>
            </a:r>
            <a:r>
              <a:rPr lang="en-US" dirty="0"/>
              <a:t> </a:t>
            </a:r>
          </a:p>
          <a:p>
            <a:pPr marL="0" indent="0">
              <a:buNone/>
            </a:pPr>
            <a:endParaRPr lang="en-US" b="1" dirty="0" smtClean="0"/>
          </a:p>
        </p:txBody>
      </p:sp>
    </p:spTree>
    <p:extLst>
      <p:ext uri="{BB962C8B-B14F-4D97-AF65-F5344CB8AC3E}">
        <p14:creationId xmlns:p14="http://schemas.microsoft.com/office/powerpoint/2010/main" val="1909433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029"/>
          </a:xfrm>
        </p:spPr>
        <p:txBody>
          <a:bodyPr>
            <a:normAutofit/>
          </a:bodyPr>
          <a:lstStyle/>
          <a:p>
            <a:r>
              <a:rPr lang="en-US" sz="2800" b="1" dirty="0" smtClean="0"/>
              <a:t>iv)Leaky </a:t>
            </a:r>
            <a:r>
              <a:rPr lang="en-US" sz="2800" b="1" dirty="0" err="1" smtClean="0"/>
              <a:t>ReLU</a:t>
            </a:r>
            <a:endParaRPr lang="en-US" sz="2800" b="1" dirty="0"/>
          </a:p>
        </p:txBody>
      </p:sp>
      <p:sp>
        <p:nvSpPr>
          <p:cNvPr id="3" name="Content Placeholder 2"/>
          <p:cNvSpPr>
            <a:spLocks noGrp="1"/>
          </p:cNvSpPr>
          <p:nvPr>
            <p:ph idx="1"/>
          </p:nvPr>
        </p:nvSpPr>
        <p:spPr>
          <a:xfrm>
            <a:off x="838200" y="1071154"/>
            <a:ext cx="10515600" cy="5577840"/>
          </a:xfrm>
        </p:spPr>
        <p:txBody>
          <a:bodyPr>
            <a:normAutofit/>
          </a:bodyPr>
          <a:lstStyle/>
          <a:p>
            <a:r>
              <a:rPr lang="en-US" sz="1800" dirty="0"/>
              <a:t>Leaky </a:t>
            </a:r>
            <a:r>
              <a:rPr lang="en-US" sz="1800" dirty="0" err="1"/>
              <a:t>ReLU</a:t>
            </a:r>
            <a:r>
              <a:rPr lang="en-US" sz="1800" dirty="0"/>
              <a:t> is an improved version of </a:t>
            </a:r>
            <a:r>
              <a:rPr lang="en-US" sz="1800" dirty="0" err="1"/>
              <a:t>ReLU</a:t>
            </a:r>
            <a:r>
              <a:rPr lang="en-US" sz="1800" dirty="0"/>
              <a:t> function to solve the Dying </a:t>
            </a:r>
            <a:r>
              <a:rPr lang="en-US" sz="1800" dirty="0" err="1"/>
              <a:t>ReLU</a:t>
            </a:r>
            <a:r>
              <a:rPr lang="en-US" sz="1800" dirty="0"/>
              <a:t> problem as it has a small positive slope in the negative area</a:t>
            </a:r>
            <a:r>
              <a:rPr lang="en-US" sz="1800" dirty="0" smtClean="0"/>
              <a:t>.</a:t>
            </a:r>
          </a:p>
          <a:p>
            <a:pPr marL="0" indent="0">
              <a:buNone/>
            </a:pPr>
            <a:endParaRPr lang="en-US" sz="1800" dirty="0" smtClean="0"/>
          </a:p>
          <a:p>
            <a:pPr marL="0" indent="0">
              <a:buNone/>
            </a:pPr>
            <a:r>
              <a:rPr lang="en-US" sz="1800" b="1" dirty="0" smtClean="0"/>
              <a:t>Formula :</a:t>
            </a:r>
            <a:endParaRPr lang="en-US" sz="1800" b="1"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r>
              <a:rPr lang="en-US" sz="1800" b="1" dirty="0"/>
              <a:t>advantages </a:t>
            </a:r>
            <a:r>
              <a:rPr lang="en-US" sz="1800" b="1" dirty="0" smtClean="0"/>
              <a:t>: </a:t>
            </a:r>
          </a:p>
          <a:p>
            <a:r>
              <a:rPr lang="en-US" sz="1800" dirty="0"/>
              <a:t>Leaky </a:t>
            </a:r>
            <a:r>
              <a:rPr lang="en-US" sz="1800" dirty="0" err="1"/>
              <a:t>ReLU</a:t>
            </a:r>
            <a:r>
              <a:rPr lang="en-US" sz="1800" dirty="0"/>
              <a:t> are same as that of </a:t>
            </a:r>
            <a:r>
              <a:rPr lang="en-US" sz="1800" dirty="0" err="1"/>
              <a:t>ReLU</a:t>
            </a:r>
            <a:r>
              <a:rPr lang="en-US" sz="1800" dirty="0"/>
              <a:t>, in addition to the fact that it does enable backpropagation, even for negative input values</a:t>
            </a:r>
            <a:r>
              <a:rPr lang="en-US" sz="1800" dirty="0" smtClean="0"/>
              <a:t>.</a:t>
            </a:r>
          </a:p>
          <a:p>
            <a:r>
              <a:rPr lang="en-US" sz="1800" dirty="0"/>
              <a:t>By making this minor modification for negative input values, the gradient of the left side of the graph comes out to be a non-zero value. Therefore, we would no longer encounter dead neurons in that region. </a:t>
            </a:r>
            <a:endParaRPr lang="en-US" sz="1800" dirty="0" smtClean="0"/>
          </a:p>
          <a:p>
            <a:pPr marL="0" indent="0">
              <a:buNone/>
            </a:pPr>
            <a:r>
              <a:rPr lang="en-US" sz="1800" b="1" dirty="0"/>
              <a:t>limitations </a:t>
            </a:r>
            <a:r>
              <a:rPr lang="en-US" sz="1800" b="1" dirty="0" smtClean="0"/>
              <a:t>:</a:t>
            </a:r>
          </a:p>
          <a:p>
            <a:r>
              <a:rPr lang="en-US" sz="1900" dirty="0"/>
              <a:t>The predictions may not be consistent for negative input values. </a:t>
            </a:r>
          </a:p>
          <a:p>
            <a:r>
              <a:rPr lang="en-US" sz="1900" dirty="0"/>
              <a:t>The gradient for negative values is a small value that makes the learning of model parameters time-consuming.</a:t>
            </a:r>
          </a:p>
          <a:p>
            <a:endParaRPr lang="en-US" sz="1800" b="1"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08107" y="1777183"/>
            <a:ext cx="2801631" cy="1902822"/>
          </a:xfrm>
          <a:prstGeom prst="rect">
            <a:avLst/>
          </a:prstGeom>
        </p:spPr>
      </p:pic>
    </p:spTree>
    <p:extLst>
      <p:ext uri="{BB962C8B-B14F-4D97-AF65-F5344CB8AC3E}">
        <p14:creationId xmlns:p14="http://schemas.microsoft.com/office/powerpoint/2010/main" val="4159800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3509"/>
            <a:ext cx="10515600" cy="600891"/>
          </a:xfrm>
        </p:spPr>
        <p:txBody>
          <a:bodyPr>
            <a:noAutofit/>
          </a:bodyPr>
          <a:lstStyle/>
          <a:p>
            <a:r>
              <a:rPr lang="en-US" sz="2800" b="1" dirty="0" smtClean="0"/>
              <a:t>v)</a:t>
            </a:r>
            <a:r>
              <a:rPr lang="en-US" sz="2800" b="1" dirty="0"/>
              <a:t> Parametric </a:t>
            </a:r>
            <a:r>
              <a:rPr lang="en-US" sz="2800" b="1" dirty="0" err="1"/>
              <a:t>ReLU</a:t>
            </a:r>
            <a:r>
              <a:rPr lang="en-US" sz="2800" b="1" dirty="0"/>
              <a:t> </a:t>
            </a:r>
            <a:r>
              <a:rPr lang="en-US" sz="2800" b="1" dirty="0" smtClean="0"/>
              <a:t>Function:</a:t>
            </a:r>
            <a:r>
              <a:rPr lang="en-US" sz="2800" b="1" dirty="0"/>
              <a:t/>
            </a:r>
            <a:br>
              <a:rPr lang="en-US" sz="2800" b="1" dirty="0"/>
            </a:br>
            <a:endParaRPr lang="en-US" sz="2800" b="1" dirty="0"/>
          </a:p>
        </p:txBody>
      </p:sp>
      <p:sp>
        <p:nvSpPr>
          <p:cNvPr id="3" name="Content Placeholder 2"/>
          <p:cNvSpPr>
            <a:spLocks noGrp="1"/>
          </p:cNvSpPr>
          <p:nvPr>
            <p:ph idx="1"/>
          </p:nvPr>
        </p:nvSpPr>
        <p:spPr>
          <a:xfrm>
            <a:off x="838200" y="757647"/>
            <a:ext cx="10515600" cy="5471568"/>
          </a:xfrm>
        </p:spPr>
        <p:txBody>
          <a:bodyPr>
            <a:normAutofit/>
          </a:bodyPr>
          <a:lstStyle/>
          <a:p>
            <a:r>
              <a:rPr lang="en-US" sz="1800" dirty="0"/>
              <a:t>Parametric </a:t>
            </a:r>
            <a:r>
              <a:rPr lang="en-US" sz="1800" dirty="0" err="1"/>
              <a:t>ReLU</a:t>
            </a:r>
            <a:r>
              <a:rPr lang="en-US" sz="1800" dirty="0"/>
              <a:t> is another variant of </a:t>
            </a:r>
            <a:r>
              <a:rPr lang="en-US" sz="1800" dirty="0" err="1"/>
              <a:t>ReLU</a:t>
            </a:r>
            <a:r>
              <a:rPr lang="en-US" sz="1800" dirty="0"/>
              <a:t> that aims to solve the problem of gradient’s becoming zero for the left half of the axis. </a:t>
            </a:r>
            <a:endParaRPr lang="en-US" sz="1800" dirty="0" smtClean="0"/>
          </a:p>
          <a:p>
            <a:r>
              <a:rPr lang="en-US" sz="1800" dirty="0"/>
              <a:t>This function provides the slope of the negative part of the function as an argument </a:t>
            </a:r>
            <a:r>
              <a:rPr lang="en-US" sz="1800" i="1" dirty="0"/>
              <a:t>a</a:t>
            </a:r>
            <a:r>
              <a:rPr lang="en-US" sz="1800" dirty="0"/>
              <a:t>. By performing backpropagation, the most appropriate value of </a:t>
            </a:r>
            <a:r>
              <a:rPr lang="en-US" sz="1800" i="1" dirty="0"/>
              <a:t>a</a:t>
            </a:r>
            <a:r>
              <a:rPr lang="en-US" sz="1800" dirty="0"/>
              <a:t> is learnt</a:t>
            </a:r>
            <a:r>
              <a:rPr lang="en-US" sz="1800" dirty="0" smtClean="0"/>
              <a:t>.</a:t>
            </a:r>
          </a:p>
          <a:p>
            <a:endParaRPr lang="en-US" sz="1800" dirty="0"/>
          </a:p>
          <a:p>
            <a:pPr marL="0" indent="0">
              <a:buNone/>
            </a:pPr>
            <a:r>
              <a:rPr lang="en-US" sz="1800" b="1" dirty="0" smtClean="0"/>
              <a:t>Formula :</a:t>
            </a:r>
          </a:p>
          <a:p>
            <a:pPr marL="0" indent="0">
              <a:buNone/>
            </a:pPr>
            <a:endParaRPr lang="en-US" sz="1800" dirty="0"/>
          </a:p>
          <a:p>
            <a:pPr marL="0" indent="0">
              <a:buNone/>
            </a:pPr>
            <a:r>
              <a:rPr lang="en-US" sz="1800" dirty="0" smtClean="0"/>
              <a:t>		</a:t>
            </a:r>
          </a:p>
          <a:p>
            <a:pPr marL="0" indent="0">
              <a:buNone/>
            </a:pPr>
            <a:r>
              <a:rPr lang="en-US" sz="1800" dirty="0"/>
              <a:t>	</a:t>
            </a:r>
            <a:r>
              <a:rPr lang="en-US" sz="1800" dirty="0" smtClean="0"/>
              <a:t>		</a:t>
            </a:r>
            <a:r>
              <a:rPr lang="en-US" sz="1700" dirty="0" smtClean="0"/>
              <a:t>Where</a:t>
            </a:r>
            <a:r>
              <a:rPr lang="en-US" sz="1700" dirty="0"/>
              <a:t> </a:t>
            </a:r>
            <a:r>
              <a:rPr lang="en-US" sz="1700" i="1" dirty="0"/>
              <a:t>"a" </a:t>
            </a:r>
            <a:r>
              <a:rPr lang="en-US" sz="1700" dirty="0"/>
              <a:t>is the slope parameter for negative values.</a:t>
            </a:r>
            <a:endParaRPr lang="en-US" sz="1700" dirty="0" smtClean="0"/>
          </a:p>
          <a:p>
            <a:pPr marL="0" indent="0">
              <a:buNone/>
            </a:pPr>
            <a:endParaRPr lang="en-US" sz="1800" dirty="0" smtClean="0"/>
          </a:p>
          <a:p>
            <a:pPr marL="0" indent="0">
              <a:buNone/>
            </a:pPr>
            <a:r>
              <a:rPr lang="en-US" sz="1800" b="1" dirty="0" smtClean="0"/>
              <a:t>Advantage:</a:t>
            </a:r>
          </a:p>
          <a:p>
            <a:r>
              <a:rPr lang="en-US" sz="1800" dirty="0"/>
              <a:t>The parameterized </a:t>
            </a:r>
            <a:r>
              <a:rPr lang="en-US" sz="1800" dirty="0" err="1"/>
              <a:t>ReLU</a:t>
            </a:r>
            <a:r>
              <a:rPr lang="en-US" sz="1800" dirty="0"/>
              <a:t> function is used when the leaky </a:t>
            </a:r>
            <a:r>
              <a:rPr lang="en-US" sz="1800" dirty="0" err="1"/>
              <a:t>ReLU</a:t>
            </a:r>
            <a:r>
              <a:rPr lang="en-US" sz="1800" dirty="0"/>
              <a:t> function still fails at solving the problem of dead neurons, and the relevant information is not successfully passed to the next </a:t>
            </a:r>
            <a:r>
              <a:rPr lang="en-US" sz="1800" dirty="0" smtClean="0"/>
              <a:t>layer.</a:t>
            </a:r>
          </a:p>
          <a:p>
            <a:pPr marL="0" indent="0">
              <a:buNone/>
            </a:pPr>
            <a:r>
              <a:rPr lang="en-US" sz="1800" b="1" dirty="0" smtClean="0"/>
              <a:t>Drawback :</a:t>
            </a:r>
          </a:p>
          <a:p>
            <a:r>
              <a:rPr lang="en-US" sz="1800" dirty="0"/>
              <a:t>This function’s limitation is that it may perform differently for different problems depending upon the value of slope parameter </a:t>
            </a:r>
            <a:r>
              <a:rPr lang="en-US" sz="1800" b="1" i="1" dirty="0"/>
              <a:t>a.</a:t>
            </a:r>
            <a:endParaRPr lang="en-US" sz="1800" b="1"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96171" y="1968630"/>
            <a:ext cx="2413635" cy="1802181"/>
          </a:xfrm>
          <a:prstGeom prst="rect">
            <a:avLst/>
          </a:prstGeom>
        </p:spPr>
      </p:pic>
    </p:spTree>
    <p:extLst>
      <p:ext uri="{BB962C8B-B14F-4D97-AF65-F5344CB8AC3E}">
        <p14:creationId xmlns:p14="http://schemas.microsoft.com/office/powerpoint/2010/main" val="10615118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18646"/>
          </a:xfrm>
        </p:spPr>
        <p:txBody>
          <a:bodyPr>
            <a:normAutofit fontScale="90000"/>
          </a:bodyPr>
          <a:lstStyle/>
          <a:p>
            <a:r>
              <a:rPr lang="en-US" sz="2800" b="1" dirty="0" smtClean="0"/>
              <a:t>vi)</a:t>
            </a:r>
            <a:r>
              <a:rPr lang="en-US" sz="2800" b="1" dirty="0"/>
              <a:t> Exponential Linear Units (ELUs) </a:t>
            </a:r>
            <a:r>
              <a:rPr lang="en-US" sz="2800" b="1" dirty="0" smtClean="0"/>
              <a:t>Function</a:t>
            </a:r>
            <a:endParaRPr lang="en-US" sz="2800" b="1" dirty="0"/>
          </a:p>
        </p:txBody>
      </p:sp>
      <p:sp>
        <p:nvSpPr>
          <p:cNvPr id="3" name="Content Placeholder 2"/>
          <p:cNvSpPr>
            <a:spLocks noGrp="1"/>
          </p:cNvSpPr>
          <p:nvPr>
            <p:ph idx="1"/>
          </p:nvPr>
        </p:nvSpPr>
        <p:spPr>
          <a:xfrm>
            <a:off x="838200" y="914400"/>
            <a:ext cx="10515600" cy="5262563"/>
          </a:xfrm>
        </p:spPr>
        <p:txBody>
          <a:bodyPr>
            <a:normAutofit fontScale="92500" lnSpcReduction="20000"/>
          </a:bodyPr>
          <a:lstStyle/>
          <a:p>
            <a:r>
              <a:rPr lang="en-US" sz="1800" dirty="0"/>
              <a:t>Exponential Linear Unit, or ELU for short, is also a variant of </a:t>
            </a:r>
            <a:r>
              <a:rPr lang="en-US" sz="1800" dirty="0" err="1"/>
              <a:t>ReLU</a:t>
            </a:r>
            <a:r>
              <a:rPr lang="en-US" sz="1800" dirty="0"/>
              <a:t> that modifies the slope of the negative part of the function. </a:t>
            </a:r>
          </a:p>
          <a:p>
            <a:r>
              <a:rPr lang="en-US" sz="1800" dirty="0"/>
              <a:t>ELU uses a log curve to define the </a:t>
            </a:r>
            <a:r>
              <a:rPr lang="en-US" sz="1800" dirty="0" smtClean="0"/>
              <a:t>negative </a:t>
            </a:r>
            <a:r>
              <a:rPr lang="en-US" sz="1800" dirty="0"/>
              <a:t>values unlike the leaky </a:t>
            </a:r>
            <a:r>
              <a:rPr lang="en-US" sz="1800" dirty="0" err="1"/>
              <a:t>ReLU</a:t>
            </a:r>
            <a:r>
              <a:rPr lang="en-US" sz="1800" dirty="0"/>
              <a:t> and Parametric </a:t>
            </a:r>
            <a:r>
              <a:rPr lang="en-US" sz="1800" dirty="0" err="1"/>
              <a:t>ReLU</a:t>
            </a:r>
            <a:r>
              <a:rPr lang="en-US" sz="1800" dirty="0"/>
              <a:t> functions with a straight line</a:t>
            </a:r>
            <a:r>
              <a:rPr lang="en-US" sz="1800" dirty="0" smtClean="0"/>
              <a:t>.</a:t>
            </a:r>
          </a:p>
          <a:p>
            <a:pPr marL="0" indent="0">
              <a:buNone/>
            </a:pPr>
            <a:endParaRPr lang="en-US" sz="1800" dirty="0" smtClean="0"/>
          </a:p>
          <a:p>
            <a:pPr marL="0" indent="0">
              <a:buNone/>
            </a:pPr>
            <a:r>
              <a:rPr lang="en-US" sz="1800" b="1" dirty="0" smtClean="0"/>
              <a:t>Formula</a:t>
            </a:r>
            <a:endParaRPr lang="en-US" sz="1800" b="1" dirty="0"/>
          </a:p>
          <a:p>
            <a:pPr marL="0" indent="0">
              <a:buNone/>
            </a:pPr>
            <a:endParaRPr lang="en-US" sz="1800" dirty="0" smtClean="0"/>
          </a:p>
          <a:p>
            <a:pPr marL="0" indent="0">
              <a:buNone/>
            </a:pPr>
            <a:endParaRPr lang="en-US" sz="1800" dirty="0" smtClean="0"/>
          </a:p>
          <a:p>
            <a:pPr marL="0" indent="0">
              <a:buNone/>
            </a:pPr>
            <a:r>
              <a:rPr lang="en-US" sz="1800" b="1" dirty="0" smtClean="0"/>
              <a:t>Advantages</a:t>
            </a:r>
          </a:p>
          <a:p>
            <a:r>
              <a:rPr lang="en-US" sz="1800" dirty="0"/>
              <a:t>ELU becomes smooth slowly until its output equal to -α whereas RELU sharply </a:t>
            </a:r>
            <a:r>
              <a:rPr lang="en-US" sz="1800" dirty="0" err="1"/>
              <a:t>smoothes</a:t>
            </a:r>
            <a:r>
              <a:rPr lang="en-US" sz="1800" dirty="0" smtClean="0"/>
              <a:t>.</a:t>
            </a:r>
            <a:endParaRPr lang="en-US" sz="1800" dirty="0"/>
          </a:p>
          <a:p>
            <a:r>
              <a:rPr lang="en-US" sz="1800" dirty="0"/>
              <a:t>Avoids dead </a:t>
            </a:r>
            <a:r>
              <a:rPr lang="en-US" sz="1800" dirty="0" err="1"/>
              <a:t>ReLU</a:t>
            </a:r>
            <a:r>
              <a:rPr lang="en-US" sz="1800" dirty="0"/>
              <a:t> problem by introducing log curve for negative values of input. It helps the network nudge weights and biases in the right direction</a:t>
            </a:r>
            <a:r>
              <a:rPr lang="en-US" sz="1800" dirty="0" smtClean="0"/>
              <a:t>.</a:t>
            </a:r>
          </a:p>
          <a:p>
            <a:pPr marL="0" indent="0">
              <a:buNone/>
            </a:pPr>
            <a:endParaRPr lang="en-US" sz="1800" dirty="0" smtClean="0"/>
          </a:p>
          <a:p>
            <a:pPr marL="0" indent="0">
              <a:buNone/>
            </a:pPr>
            <a:r>
              <a:rPr lang="en-US" sz="1800" b="1" dirty="0" smtClean="0"/>
              <a:t>Drawbacks:</a:t>
            </a:r>
          </a:p>
          <a:p>
            <a:r>
              <a:rPr lang="en-US" sz="2100" dirty="0"/>
              <a:t>It increases the computational time because of the exponential operation included</a:t>
            </a:r>
          </a:p>
          <a:p>
            <a:r>
              <a:rPr lang="en-US" sz="2100" dirty="0"/>
              <a:t>No learning of the ‘a’ value takes place</a:t>
            </a:r>
          </a:p>
          <a:p>
            <a:r>
              <a:rPr lang="en-US" sz="2100" dirty="0"/>
              <a:t>Exploding gradient problem</a:t>
            </a:r>
          </a:p>
          <a:p>
            <a:endParaRPr lang="en-US" sz="1800" b="1" dirty="0"/>
          </a:p>
          <a:p>
            <a:endParaRPr lang="en-US" sz="1800" b="1"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67706" y="1863317"/>
            <a:ext cx="2485345" cy="1928042"/>
          </a:xfrm>
          <a:prstGeom prst="rect">
            <a:avLst/>
          </a:prstGeom>
        </p:spPr>
      </p:pic>
    </p:spTree>
    <p:extLst>
      <p:ext uri="{BB962C8B-B14F-4D97-AF65-F5344CB8AC3E}">
        <p14:creationId xmlns:p14="http://schemas.microsoft.com/office/powerpoint/2010/main" val="17988499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92521"/>
          </a:xfrm>
        </p:spPr>
        <p:txBody>
          <a:bodyPr>
            <a:normAutofit fontScale="90000"/>
          </a:bodyPr>
          <a:lstStyle/>
          <a:p>
            <a:r>
              <a:rPr lang="en-US" sz="2800" b="1" dirty="0" smtClean="0"/>
              <a:t>vii) </a:t>
            </a:r>
            <a:r>
              <a:rPr lang="en-US" sz="2800" b="1" dirty="0" err="1" smtClean="0"/>
              <a:t>Softmax</a:t>
            </a:r>
            <a:r>
              <a:rPr lang="en-US" sz="2800" b="1" dirty="0" smtClean="0"/>
              <a:t> :</a:t>
            </a:r>
            <a:endParaRPr lang="en-US" sz="2800" b="1" dirty="0"/>
          </a:p>
        </p:txBody>
      </p:sp>
      <p:sp>
        <p:nvSpPr>
          <p:cNvPr id="3" name="Content Placeholder 2"/>
          <p:cNvSpPr>
            <a:spLocks noGrp="1"/>
          </p:cNvSpPr>
          <p:nvPr>
            <p:ph idx="1"/>
          </p:nvPr>
        </p:nvSpPr>
        <p:spPr>
          <a:xfrm>
            <a:off x="838200" y="574766"/>
            <a:ext cx="10515600" cy="6283234"/>
          </a:xfrm>
        </p:spPr>
        <p:txBody>
          <a:bodyPr>
            <a:normAutofit fontScale="70000" lnSpcReduction="20000"/>
          </a:bodyPr>
          <a:lstStyle/>
          <a:p>
            <a:pPr marL="0" indent="0">
              <a:buNone/>
            </a:pPr>
            <a:endParaRPr lang="en-US" sz="3300" dirty="0" smtClean="0"/>
          </a:p>
          <a:p>
            <a:r>
              <a:rPr lang="en-US" sz="3300" dirty="0" smtClean="0"/>
              <a:t>Before </a:t>
            </a:r>
            <a:r>
              <a:rPr lang="en-US" sz="3300" dirty="0"/>
              <a:t>exploring the ins and outs of the </a:t>
            </a:r>
            <a:r>
              <a:rPr lang="en-US" sz="3300" dirty="0" err="1"/>
              <a:t>Softmax</a:t>
            </a:r>
            <a:r>
              <a:rPr lang="en-US" sz="3300" dirty="0"/>
              <a:t> activation function, we should focus on its building block—the sigmoid/logistic activation function that works on calculating probability values. </a:t>
            </a:r>
          </a:p>
          <a:p>
            <a:r>
              <a:rPr lang="en-US" sz="3300" dirty="0"/>
              <a:t>The output of the sigmoid function was in the range of 0 to 1, which can be thought of as probability. </a:t>
            </a:r>
          </a:p>
          <a:p>
            <a:r>
              <a:rPr lang="en-US" sz="3300" dirty="0"/>
              <a:t>Let’s suppose we have five output values of 0.8, 0.9, 0.7, 0.8, and 0.6, respectively. How can we move forward with it?</a:t>
            </a:r>
            <a:br>
              <a:rPr lang="en-US" sz="3300" dirty="0"/>
            </a:br>
            <a:r>
              <a:rPr lang="en-US" sz="3300" dirty="0" smtClean="0"/>
              <a:t>	</a:t>
            </a:r>
          </a:p>
          <a:p>
            <a:pPr marL="457200" lvl="1" indent="0">
              <a:buNone/>
            </a:pPr>
            <a:r>
              <a:rPr lang="en-US" sz="3300" dirty="0"/>
              <a:t>	</a:t>
            </a:r>
            <a:r>
              <a:rPr lang="en-US" sz="3300" dirty="0" smtClean="0"/>
              <a:t>The </a:t>
            </a:r>
            <a:r>
              <a:rPr lang="en-US" sz="3300" dirty="0"/>
              <a:t>answer is: We can’t</a:t>
            </a:r>
            <a:r>
              <a:rPr lang="en-US" sz="3300" dirty="0" smtClean="0"/>
              <a:t>.</a:t>
            </a:r>
            <a:endParaRPr lang="en-US" sz="3300" dirty="0"/>
          </a:p>
          <a:p>
            <a:r>
              <a:rPr lang="en-US" sz="3300" dirty="0"/>
              <a:t>The above values don’t make sense as the sum of all the classes/output probabilities should be equal to 1. </a:t>
            </a:r>
          </a:p>
          <a:p>
            <a:r>
              <a:rPr lang="en-US" sz="3300" dirty="0"/>
              <a:t>You </a:t>
            </a:r>
            <a:r>
              <a:rPr lang="en-US" sz="3300" dirty="0" smtClean="0"/>
              <a:t>see, </a:t>
            </a:r>
            <a:r>
              <a:rPr lang="en-US" sz="3300" dirty="0"/>
              <a:t>the </a:t>
            </a:r>
            <a:r>
              <a:rPr lang="en-US" sz="3300" b="1" dirty="0" err="1"/>
              <a:t>Softmax</a:t>
            </a:r>
            <a:r>
              <a:rPr lang="en-US" sz="3300" b="1" dirty="0"/>
              <a:t> function is described as a combination of multiple </a:t>
            </a:r>
            <a:r>
              <a:rPr lang="en-US" sz="3300" b="1" dirty="0" err="1"/>
              <a:t>sigmoids</a:t>
            </a:r>
            <a:r>
              <a:rPr lang="en-US" sz="3300" b="1" dirty="0"/>
              <a:t>.</a:t>
            </a:r>
            <a:r>
              <a:rPr lang="en-US" sz="3300" dirty="0"/>
              <a:t> </a:t>
            </a:r>
          </a:p>
          <a:p>
            <a:r>
              <a:rPr lang="en-US" sz="3300" dirty="0"/>
              <a:t>It calculates the relative probabilities. Similar to the sigmoid/logistic activation function, the </a:t>
            </a:r>
            <a:r>
              <a:rPr lang="en-US" sz="3300" dirty="0" err="1"/>
              <a:t>SoftMax</a:t>
            </a:r>
            <a:r>
              <a:rPr lang="en-US" sz="3300" dirty="0"/>
              <a:t> function returns the probability of each class. </a:t>
            </a:r>
          </a:p>
          <a:p>
            <a:r>
              <a:rPr lang="en-US" sz="3300" b="1" dirty="0"/>
              <a:t>It is most commonly used as an activation function for the last layer of the neural network in the case of multi-class classification</a:t>
            </a:r>
            <a:r>
              <a:rPr lang="en-US" sz="3300" b="1" dirty="0" smtClean="0"/>
              <a:t>.</a:t>
            </a:r>
          </a:p>
          <a:p>
            <a:pPr marL="0" indent="0">
              <a:buNone/>
            </a:pPr>
            <a:r>
              <a:rPr lang="en-US" sz="3300" dirty="0"/>
              <a:t> </a:t>
            </a:r>
            <a:endParaRPr lang="en-US" sz="3300" dirty="0" smtClean="0"/>
          </a:p>
          <a:p>
            <a:pPr marL="0" indent="0">
              <a:buNone/>
            </a:pPr>
            <a:endParaRPr lang="en-US" dirty="0"/>
          </a:p>
        </p:txBody>
      </p:sp>
    </p:spTree>
    <p:extLst>
      <p:ext uri="{BB962C8B-B14F-4D97-AF65-F5344CB8AC3E}">
        <p14:creationId xmlns:p14="http://schemas.microsoft.com/office/powerpoint/2010/main" val="12566257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9634"/>
            <a:ext cx="10515600" cy="5837329"/>
          </a:xfrm>
        </p:spPr>
        <p:txBody>
          <a:bodyPr>
            <a:normAutofit/>
          </a:bodyPr>
          <a:lstStyle/>
          <a:p>
            <a:pPr marL="0" indent="0" fontAlgn="base">
              <a:buNone/>
            </a:pPr>
            <a:endParaRPr lang="en-US" sz="1900" b="1" dirty="0" smtClean="0"/>
          </a:p>
          <a:p>
            <a:pPr marL="0" indent="0" fontAlgn="base">
              <a:buNone/>
            </a:pPr>
            <a:r>
              <a:rPr lang="en-US" sz="2200" b="1" dirty="0" smtClean="0"/>
              <a:t>Advantages:</a:t>
            </a:r>
            <a:endParaRPr lang="en-US" sz="2200" b="1" dirty="0"/>
          </a:p>
          <a:p>
            <a:pPr fontAlgn="base"/>
            <a:r>
              <a:rPr lang="en-US" sz="1800" dirty="0"/>
              <a:t>Separating multiple classes efficiently</a:t>
            </a:r>
          </a:p>
          <a:p>
            <a:pPr fontAlgn="base"/>
            <a:r>
              <a:rPr lang="en-US" sz="1800" dirty="0"/>
              <a:t>No restriction on batch selection compared to contrastive or triplet loss</a:t>
            </a:r>
          </a:p>
          <a:p>
            <a:pPr fontAlgn="base"/>
            <a:r>
              <a:rPr lang="en-US" sz="1800" dirty="0"/>
              <a:t>Easy implementation</a:t>
            </a:r>
          </a:p>
          <a:p>
            <a:pPr marL="0" indent="0" fontAlgn="base">
              <a:buNone/>
            </a:pPr>
            <a:endParaRPr lang="en-US" sz="1900" b="1" dirty="0" smtClean="0"/>
          </a:p>
          <a:p>
            <a:pPr marL="0" indent="0" fontAlgn="base">
              <a:buNone/>
            </a:pPr>
            <a:r>
              <a:rPr lang="en-US" sz="1900" b="1" dirty="0" smtClean="0"/>
              <a:t>Drawbacks:</a:t>
            </a:r>
          </a:p>
          <a:p>
            <a:pPr fontAlgn="base"/>
            <a:r>
              <a:rPr lang="en-US" sz="1900" dirty="0" smtClean="0"/>
              <a:t>If there are too many classes, it will be problematic for memory fit (a common issue)</a:t>
            </a:r>
          </a:p>
          <a:p>
            <a:pPr fontAlgn="base"/>
            <a:r>
              <a:rPr lang="en-US" sz="1900" dirty="0" smtClean="0"/>
              <a:t>It fits well to high quality images (see upper figure below) due to its maximization conditional probability. However, it ignores the rare difficult images (see bottom figure below) from the training mini-batch.</a:t>
            </a:r>
          </a:p>
          <a:p>
            <a:pPr marL="0" indent="0">
              <a:buNone/>
            </a:pPr>
            <a:endParaRPr lang="en-US" dirty="0" smtClean="0"/>
          </a:p>
          <a:p>
            <a:pPr marL="0" indent="0">
              <a:buNone/>
            </a:pPr>
            <a:r>
              <a:rPr lang="en-US" sz="1900" b="1" dirty="0" smtClean="0"/>
              <a:t>Formula:</a:t>
            </a:r>
          </a:p>
          <a:p>
            <a:pPr marL="0" indent="0">
              <a:buNone/>
            </a:pPr>
            <a:endParaRPr lang="en-US"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4868" y="4366597"/>
            <a:ext cx="3531326" cy="2491403"/>
          </a:xfrm>
          <a:prstGeom prst="rect">
            <a:avLst/>
          </a:prstGeom>
        </p:spPr>
      </p:pic>
    </p:spTree>
    <p:extLst>
      <p:ext uri="{BB962C8B-B14F-4D97-AF65-F5344CB8AC3E}">
        <p14:creationId xmlns:p14="http://schemas.microsoft.com/office/powerpoint/2010/main" val="15341174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3149"/>
          </a:xfrm>
        </p:spPr>
        <p:txBody>
          <a:bodyPr>
            <a:normAutofit fontScale="90000"/>
          </a:bodyPr>
          <a:lstStyle/>
          <a:p>
            <a:r>
              <a:rPr lang="en-US" sz="2700" b="1" dirty="0" smtClean="0"/>
              <a:t>viii)</a:t>
            </a:r>
            <a:r>
              <a:rPr lang="en-US" sz="2700" b="1" dirty="0"/>
              <a:t> </a:t>
            </a:r>
            <a:r>
              <a:rPr lang="en-US" sz="2700" b="1" dirty="0" smtClean="0"/>
              <a:t>Swish</a:t>
            </a:r>
            <a:r>
              <a:rPr lang="en-US" dirty="0" smtClean="0"/>
              <a:t> :</a:t>
            </a:r>
            <a:endParaRPr lang="en-US" dirty="0"/>
          </a:p>
        </p:txBody>
      </p:sp>
      <p:sp>
        <p:nvSpPr>
          <p:cNvPr id="3" name="Content Placeholder 2"/>
          <p:cNvSpPr>
            <a:spLocks noGrp="1"/>
          </p:cNvSpPr>
          <p:nvPr>
            <p:ph idx="1"/>
          </p:nvPr>
        </p:nvSpPr>
        <p:spPr>
          <a:xfrm>
            <a:off x="838200" y="1031966"/>
            <a:ext cx="10515600" cy="5144997"/>
          </a:xfrm>
        </p:spPr>
        <p:txBody>
          <a:bodyPr>
            <a:normAutofit fontScale="92500"/>
          </a:bodyPr>
          <a:lstStyle/>
          <a:p>
            <a:r>
              <a:rPr lang="en-US" sz="1900" dirty="0"/>
              <a:t>It is a self-gated activation function developed by researchers at Google. </a:t>
            </a:r>
          </a:p>
          <a:p>
            <a:r>
              <a:rPr lang="en-US" sz="1900" dirty="0"/>
              <a:t>Swish consistently matches or outperforms </a:t>
            </a:r>
            <a:r>
              <a:rPr lang="en-US" sz="1900" dirty="0" err="1"/>
              <a:t>ReLU</a:t>
            </a:r>
            <a:r>
              <a:rPr lang="en-US" sz="1900" dirty="0"/>
              <a:t> activation function on deep networks applied to </a:t>
            </a:r>
            <a:r>
              <a:rPr lang="en-US" sz="1900" dirty="0" smtClean="0"/>
              <a:t>various </a:t>
            </a:r>
            <a:r>
              <a:rPr lang="en-US" sz="1900" dirty="0"/>
              <a:t>challenging domains such as </a:t>
            </a:r>
            <a:r>
              <a:rPr lang="en-US" sz="1900" dirty="0">
                <a:hlinkClick r:id="rId2"/>
              </a:rPr>
              <a:t>image classification</a:t>
            </a:r>
            <a:r>
              <a:rPr lang="en-US" sz="1900" dirty="0"/>
              <a:t>, machine translation etc. </a:t>
            </a:r>
            <a:endParaRPr lang="en-US" sz="1900" dirty="0" smtClean="0"/>
          </a:p>
          <a:p>
            <a:pPr marL="0" indent="0">
              <a:buNone/>
            </a:pPr>
            <a:endParaRPr lang="en-US" sz="1900" dirty="0"/>
          </a:p>
          <a:p>
            <a:pPr marL="0" indent="0">
              <a:buNone/>
            </a:pPr>
            <a:r>
              <a:rPr lang="en-US" sz="1900" b="1" dirty="0" smtClean="0"/>
              <a:t>Formula</a:t>
            </a:r>
          </a:p>
          <a:p>
            <a:pPr marL="0" indent="0">
              <a:buNone/>
            </a:pPr>
            <a:endParaRPr lang="en-US" sz="1900" b="1" dirty="0" smtClean="0"/>
          </a:p>
          <a:p>
            <a:pPr marL="0" indent="0">
              <a:buNone/>
            </a:pPr>
            <a:endParaRPr lang="en-US" sz="1900" b="1" dirty="0"/>
          </a:p>
          <a:p>
            <a:pPr marL="0" indent="0">
              <a:buNone/>
            </a:pPr>
            <a:r>
              <a:rPr lang="en-US" sz="1800" b="1" dirty="0"/>
              <a:t>advantages </a:t>
            </a:r>
            <a:endParaRPr lang="en-US" sz="1800" b="1" dirty="0" smtClean="0"/>
          </a:p>
          <a:p>
            <a:r>
              <a:rPr lang="en-US" sz="2200" dirty="0"/>
              <a:t>Swish is a smooth function that means that it does not </a:t>
            </a:r>
            <a:r>
              <a:rPr lang="en-US" sz="2200" dirty="0" smtClean="0"/>
              <a:t>suddenly </a:t>
            </a:r>
            <a:r>
              <a:rPr lang="en-US" sz="2200" dirty="0"/>
              <a:t>change direction like </a:t>
            </a:r>
            <a:r>
              <a:rPr lang="en-US" sz="2200" dirty="0" err="1"/>
              <a:t>ReLU</a:t>
            </a:r>
            <a:r>
              <a:rPr lang="en-US" sz="2200" dirty="0"/>
              <a:t> does near x = 0. Rather, it smoothly bends from 0 towards values &lt; 0 and then upwards again</a:t>
            </a:r>
            <a:r>
              <a:rPr lang="en-US" sz="2200" dirty="0" smtClean="0"/>
              <a:t>.</a:t>
            </a:r>
            <a:endParaRPr lang="en-US" sz="2200" dirty="0"/>
          </a:p>
          <a:p>
            <a:r>
              <a:rPr lang="en-US" sz="2200" dirty="0" smtClean="0"/>
              <a:t>Small negative values were zeroed out in </a:t>
            </a:r>
            <a:r>
              <a:rPr lang="en-US" sz="2200" dirty="0" err="1" smtClean="0"/>
              <a:t>ReLU</a:t>
            </a:r>
            <a:r>
              <a:rPr lang="en-US" sz="2200" dirty="0" smtClean="0"/>
              <a:t> activation function. However, those negative values may still be relevant for capturing patterns underlying the data. Large negative values are zeroed out for reasons of sparsity making it a win-win situation.</a:t>
            </a:r>
          </a:p>
          <a:p>
            <a:r>
              <a:rPr lang="en-US" sz="2200" dirty="0" smtClean="0"/>
              <a:t>The swish function being non-monotonous enhances the expression of input data and weight to be learnt.</a:t>
            </a:r>
          </a:p>
          <a:p>
            <a:endParaRPr lang="en-US" sz="1800" b="1" dirty="0" smtClean="0"/>
          </a:p>
          <a:p>
            <a:pPr marL="0" indent="0">
              <a:buNone/>
            </a:pPr>
            <a:endParaRPr lang="en-US" sz="1900" b="1"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58158" y="1905634"/>
            <a:ext cx="2864712" cy="1930492"/>
          </a:xfrm>
          <a:prstGeom prst="rect">
            <a:avLst/>
          </a:prstGeom>
        </p:spPr>
      </p:pic>
    </p:spTree>
    <p:extLst>
      <p:ext uri="{BB962C8B-B14F-4D97-AF65-F5344CB8AC3E}">
        <p14:creationId xmlns:p14="http://schemas.microsoft.com/office/powerpoint/2010/main" val="24014090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83961"/>
          </a:xfrm>
        </p:spPr>
        <p:txBody>
          <a:bodyPr/>
          <a:lstStyle/>
          <a:p>
            <a:r>
              <a:rPr lang="en-US" sz="2700" b="1" dirty="0" smtClean="0"/>
              <a:t>ix)</a:t>
            </a:r>
            <a:r>
              <a:rPr lang="en-US" sz="2700" b="1" dirty="0"/>
              <a:t> Gaussian Error Linear Unit (GELU</a:t>
            </a:r>
            <a:r>
              <a:rPr lang="en-US" sz="2700" b="1" dirty="0" smtClean="0"/>
              <a:t>)</a:t>
            </a:r>
            <a:endParaRPr lang="en-US" sz="2700" b="1" dirty="0"/>
          </a:p>
        </p:txBody>
      </p:sp>
      <p:sp>
        <p:nvSpPr>
          <p:cNvPr id="3" name="Content Placeholder 2"/>
          <p:cNvSpPr>
            <a:spLocks noGrp="1"/>
          </p:cNvSpPr>
          <p:nvPr>
            <p:ph idx="1"/>
          </p:nvPr>
        </p:nvSpPr>
        <p:spPr>
          <a:xfrm>
            <a:off x="838200" y="849086"/>
            <a:ext cx="10515600" cy="5327877"/>
          </a:xfrm>
        </p:spPr>
        <p:txBody>
          <a:bodyPr>
            <a:normAutofit/>
          </a:bodyPr>
          <a:lstStyle/>
          <a:p>
            <a:r>
              <a:rPr lang="en-US" sz="1800" dirty="0"/>
              <a:t>The Gaussian Error Linear Unit (GELU) activation function is compatible with BERT, </a:t>
            </a:r>
            <a:r>
              <a:rPr lang="en-US" sz="1800" dirty="0" err="1"/>
              <a:t>ROBERTa</a:t>
            </a:r>
            <a:r>
              <a:rPr lang="en-US" sz="1800" dirty="0"/>
              <a:t>, ALBERT, and other top NLP models. This activation function is motivated by combining properties from dropout, </a:t>
            </a:r>
            <a:r>
              <a:rPr lang="en-US" sz="1800" dirty="0" err="1"/>
              <a:t>zoneout</a:t>
            </a:r>
            <a:r>
              <a:rPr lang="en-US" sz="1800" dirty="0"/>
              <a:t>, and </a:t>
            </a:r>
            <a:r>
              <a:rPr lang="en-US" sz="1800" dirty="0" err="1" smtClean="0"/>
              <a:t>ReLUs</a:t>
            </a:r>
            <a:r>
              <a:rPr lang="en-US" sz="1800" dirty="0" smtClean="0"/>
              <a:t>.</a:t>
            </a:r>
          </a:p>
          <a:p>
            <a:pPr marL="0" indent="0">
              <a:buNone/>
            </a:pPr>
            <a:endParaRPr lang="en-US" sz="1800" dirty="0"/>
          </a:p>
          <a:p>
            <a:pPr marL="0" indent="0">
              <a:buNone/>
            </a:pPr>
            <a:r>
              <a:rPr lang="en-US" sz="1800" b="1" dirty="0" smtClean="0"/>
              <a:t>Formula</a:t>
            </a:r>
          </a:p>
          <a:p>
            <a:pPr marL="0" indent="0">
              <a:buNone/>
            </a:pPr>
            <a:endParaRPr lang="en-US" sz="1800" b="1" dirty="0" smtClean="0"/>
          </a:p>
          <a:p>
            <a:pPr marL="0" indent="0">
              <a:buNone/>
            </a:pPr>
            <a:endParaRPr lang="en-US" sz="1800" b="1" dirty="0" smtClean="0"/>
          </a:p>
          <a:p>
            <a:pPr marL="0" indent="0">
              <a:buNone/>
            </a:pPr>
            <a:endParaRPr lang="en-US" sz="1800" b="1" dirty="0"/>
          </a:p>
          <a:p>
            <a:pPr marL="0" indent="0">
              <a:buNone/>
            </a:pPr>
            <a:r>
              <a:rPr lang="en-US" sz="1800" b="1" dirty="0" smtClean="0"/>
              <a:t>Advantage</a:t>
            </a:r>
          </a:p>
          <a:p>
            <a:r>
              <a:rPr lang="en-US" sz="1900" dirty="0"/>
              <a:t>GELU nonlinearity is better than </a:t>
            </a:r>
            <a:r>
              <a:rPr lang="en-US" sz="1900" dirty="0" err="1"/>
              <a:t>ReLU</a:t>
            </a:r>
            <a:r>
              <a:rPr lang="en-US" sz="1900" dirty="0"/>
              <a:t> and ELU activations and finds performance improvements across all tasks in domains of </a:t>
            </a:r>
            <a:r>
              <a:rPr lang="en-US" sz="1900" dirty="0">
                <a:hlinkClick r:id="rId2"/>
              </a:rPr>
              <a:t>computer vision</a:t>
            </a:r>
            <a:r>
              <a:rPr lang="en-US" sz="1900" dirty="0"/>
              <a:t>, natural language processing, and speech recognition.</a:t>
            </a:r>
            <a:r>
              <a:rPr lang="en-US" sz="1800" b="1" dirty="0"/>
              <a:t>	</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31029" y="1463644"/>
            <a:ext cx="4362994" cy="1914070"/>
          </a:xfrm>
          <a:prstGeom prst="rect">
            <a:avLst/>
          </a:prstGeom>
        </p:spPr>
      </p:pic>
    </p:spTree>
    <p:extLst>
      <p:ext uri="{BB962C8B-B14F-4D97-AF65-F5344CB8AC3E}">
        <p14:creationId xmlns:p14="http://schemas.microsoft.com/office/powerpoint/2010/main" val="42437883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1526"/>
          </a:xfrm>
        </p:spPr>
        <p:txBody>
          <a:bodyPr>
            <a:normAutofit/>
          </a:bodyPr>
          <a:lstStyle/>
          <a:p>
            <a:r>
              <a:rPr lang="en-US" sz="2900" b="1" dirty="0" smtClean="0"/>
              <a:t>x)</a:t>
            </a:r>
            <a:r>
              <a:rPr lang="en-US" sz="2900" b="1" dirty="0"/>
              <a:t> Scaled Exponential Linear Unit (SELU</a:t>
            </a:r>
            <a:r>
              <a:rPr lang="en-US" sz="2900" b="1" dirty="0" smtClean="0"/>
              <a:t>)</a:t>
            </a:r>
            <a:endParaRPr lang="en-US" sz="2900" b="1" dirty="0"/>
          </a:p>
        </p:txBody>
      </p:sp>
      <p:sp>
        <p:nvSpPr>
          <p:cNvPr id="3" name="Content Placeholder 2"/>
          <p:cNvSpPr>
            <a:spLocks noGrp="1"/>
          </p:cNvSpPr>
          <p:nvPr>
            <p:ph idx="1"/>
          </p:nvPr>
        </p:nvSpPr>
        <p:spPr>
          <a:xfrm>
            <a:off x="838200" y="1136469"/>
            <a:ext cx="10515600" cy="5040494"/>
          </a:xfrm>
        </p:spPr>
        <p:txBody>
          <a:bodyPr>
            <a:normAutofit fontScale="92500" lnSpcReduction="10000"/>
          </a:bodyPr>
          <a:lstStyle/>
          <a:p>
            <a:r>
              <a:rPr lang="en-US" sz="1800" dirty="0"/>
              <a:t>SELU was defined in self-normalizing networks and takes care of internal normalization which means each layer preserves the mean and variance from the previous layers. SELU enables this normalization by adjusting the mean and variance. </a:t>
            </a:r>
          </a:p>
          <a:p>
            <a:r>
              <a:rPr lang="en-US" sz="1800" dirty="0"/>
              <a:t>SELU has both positive and negative values to shift the mean, which was impossible for </a:t>
            </a:r>
            <a:r>
              <a:rPr lang="en-US" sz="1800" dirty="0" err="1"/>
              <a:t>ReLU</a:t>
            </a:r>
            <a:r>
              <a:rPr lang="en-US" sz="1800" dirty="0"/>
              <a:t> activation function as it cannot output negative values. </a:t>
            </a:r>
          </a:p>
          <a:p>
            <a:r>
              <a:rPr lang="en-US" sz="1800" dirty="0"/>
              <a:t>Gradients can be used to adjust the variance. The activation function needs a region with a gradient larger than one to increase it</a:t>
            </a:r>
            <a:r>
              <a:rPr lang="en-US" sz="1800" dirty="0" smtClean="0"/>
              <a:t>.</a:t>
            </a:r>
          </a:p>
          <a:p>
            <a:endParaRPr lang="en-US" sz="1800" dirty="0"/>
          </a:p>
          <a:p>
            <a:pPr marL="0" indent="0">
              <a:buNone/>
            </a:pPr>
            <a:r>
              <a:rPr lang="en-US" sz="1800" b="1" dirty="0" smtClean="0"/>
              <a:t>Formula</a:t>
            </a:r>
          </a:p>
          <a:p>
            <a:pPr marL="0" indent="0">
              <a:buNone/>
            </a:pPr>
            <a:endParaRPr lang="en-US" sz="1800" b="1" dirty="0"/>
          </a:p>
          <a:p>
            <a:pPr marL="0" indent="0">
              <a:buNone/>
            </a:pPr>
            <a:endParaRPr lang="en-US" sz="1800" b="1" dirty="0" smtClean="0"/>
          </a:p>
          <a:p>
            <a:pPr marL="0" indent="0">
              <a:buNone/>
            </a:pPr>
            <a:r>
              <a:rPr lang="en-US" sz="1900" dirty="0" smtClean="0"/>
              <a:t>		</a:t>
            </a:r>
            <a:r>
              <a:rPr lang="en-US" sz="1600" dirty="0" smtClean="0"/>
              <a:t>SELU </a:t>
            </a:r>
            <a:r>
              <a:rPr lang="en-US" sz="1600" dirty="0"/>
              <a:t>has values of alpha α and lambda λ predefined.</a:t>
            </a:r>
            <a:r>
              <a:rPr lang="en-US" sz="1900" dirty="0"/>
              <a:t> </a:t>
            </a:r>
            <a:br>
              <a:rPr lang="en-US" sz="1900" dirty="0"/>
            </a:br>
            <a:endParaRPr lang="en-US" sz="1900" dirty="0" smtClean="0"/>
          </a:p>
          <a:p>
            <a:pPr marL="0" indent="0">
              <a:buNone/>
            </a:pPr>
            <a:r>
              <a:rPr lang="en-US" sz="2100" b="1" dirty="0" smtClean="0"/>
              <a:t>advantage </a:t>
            </a:r>
            <a:r>
              <a:rPr lang="en-US" sz="2100" b="1" dirty="0"/>
              <a:t>of SELU over </a:t>
            </a:r>
            <a:r>
              <a:rPr lang="en-US" sz="2100" b="1" dirty="0" err="1"/>
              <a:t>ReLU</a:t>
            </a:r>
            <a:r>
              <a:rPr lang="en-US" sz="2100" b="1" dirty="0" smtClean="0"/>
              <a:t>:</a:t>
            </a:r>
            <a:endParaRPr lang="en-US" dirty="0"/>
          </a:p>
          <a:p>
            <a:r>
              <a:rPr lang="en-US" sz="2100" dirty="0"/>
              <a:t>Internal normalization is faster than external normalization, which means the network converges faster</a:t>
            </a:r>
            <a:r>
              <a:rPr lang="en-US" sz="2100" dirty="0" smtClean="0"/>
              <a:t>.</a:t>
            </a:r>
            <a:endParaRPr lang="en-US" sz="2100" dirty="0"/>
          </a:p>
          <a:p>
            <a:r>
              <a:rPr lang="en-US" sz="2100" dirty="0"/>
              <a:t>SELU is a relatively newer activation function and needs more papers on architectures such as CNNs and RNNs, where it is comparatively explored.</a:t>
            </a:r>
          </a:p>
          <a:p>
            <a:pPr marL="0" indent="0">
              <a:buNone/>
            </a:pPr>
            <a:endParaRPr lang="en-US" sz="1800" b="1"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08230" y="2730138"/>
            <a:ext cx="2795723" cy="1587896"/>
          </a:xfrm>
          <a:prstGeom prst="rect">
            <a:avLst/>
          </a:prstGeom>
        </p:spPr>
      </p:pic>
    </p:spTree>
    <p:extLst>
      <p:ext uri="{BB962C8B-B14F-4D97-AF65-F5344CB8AC3E}">
        <p14:creationId xmlns:p14="http://schemas.microsoft.com/office/powerpoint/2010/main" val="12192924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to choose the right Activation Function?</a:t>
            </a:r>
          </a:p>
        </p:txBody>
      </p:sp>
      <p:sp>
        <p:nvSpPr>
          <p:cNvPr id="3" name="Content Placeholder 2"/>
          <p:cNvSpPr>
            <a:spLocks noGrp="1"/>
          </p:cNvSpPr>
          <p:nvPr>
            <p:ph idx="1"/>
          </p:nvPr>
        </p:nvSpPr>
        <p:spPr/>
        <p:txBody>
          <a:bodyPr/>
          <a:lstStyle/>
          <a:p>
            <a:pPr marL="514350" indent="-514350">
              <a:buFont typeface="+mj-lt"/>
              <a:buAutoNum type="arabicPeriod"/>
            </a:pPr>
            <a:r>
              <a:rPr lang="en-US" dirty="0" err="1"/>
              <a:t>ReLU</a:t>
            </a:r>
            <a:r>
              <a:rPr lang="en-US" dirty="0"/>
              <a:t> activation function should only be used in the hidden layers</a:t>
            </a:r>
            <a:r>
              <a:rPr lang="en-US" dirty="0" smtClean="0"/>
              <a:t>.</a:t>
            </a:r>
            <a:endParaRPr lang="en-US" dirty="0"/>
          </a:p>
          <a:p>
            <a:pPr marL="514350" indent="-514350">
              <a:buFont typeface="+mj-lt"/>
              <a:buAutoNum type="arabicPeriod"/>
            </a:pPr>
            <a:r>
              <a:rPr lang="en-US" dirty="0"/>
              <a:t>Sigmoid/Logistic and </a:t>
            </a:r>
            <a:r>
              <a:rPr lang="en-US" dirty="0" err="1"/>
              <a:t>Tanh</a:t>
            </a:r>
            <a:r>
              <a:rPr lang="en-US" dirty="0"/>
              <a:t> functions should not be used in hidden layers as they make the model more susceptible to problems during training (due to vanishing gradients</a:t>
            </a:r>
            <a:r>
              <a:rPr lang="en-US" dirty="0" smtClean="0"/>
              <a:t>).</a:t>
            </a:r>
            <a:endParaRPr lang="en-US" dirty="0"/>
          </a:p>
          <a:p>
            <a:pPr marL="514350" indent="-514350">
              <a:buFont typeface="+mj-lt"/>
              <a:buAutoNum type="arabicPeriod"/>
            </a:pPr>
            <a:r>
              <a:rPr lang="en-US" dirty="0"/>
              <a:t>Swish function is used in neural networks having a depth greater than 40 layers.</a:t>
            </a:r>
          </a:p>
        </p:txBody>
      </p:sp>
    </p:spTree>
    <p:extLst>
      <p:ext uri="{BB962C8B-B14F-4D97-AF65-F5344CB8AC3E}">
        <p14:creationId xmlns:p14="http://schemas.microsoft.com/office/powerpoint/2010/main" val="21319153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568178"/>
          </a:xfrm>
        </p:spPr>
        <p:txBody>
          <a:bodyPr>
            <a:noAutofit/>
          </a:bodyPr>
          <a:lstStyle/>
          <a:p>
            <a:r>
              <a:rPr lang="en-US" sz="3500" b="1" dirty="0" smtClean="0"/>
              <a:t>Few </a:t>
            </a:r>
            <a:r>
              <a:rPr lang="en-US" sz="3500" b="1" dirty="0"/>
              <a:t>rules for choosing the activation function for your output layer based on the type of prediction problem that you are solving:</a:t>
            </a:r>
          </a:p>
        </p:txBody>
      </p:sp>
      <p:sp>
        <p:nvSpPr>
          <p:cNvPr id="3" name="Content Placeholder 2"/>
          <p:cNvSpPr>
            <a:spLocks noGrp="1"/>
          </p:cNvSpPr>
          <p:nvPr>
            <p:ph idx="1"/>
          </p:nvPr>
        </p:nvSpPr>
        <p:spPr>
          <a:xfrm>
            <a:off x="733697" y="2506662"/>
            <a:ext cx="10515600" cy="4351338"/>
          </a:xfrm>
        </p:spPr>
        <p:txBody>
          <a:bodyPr/>
          <a:lstStyle/>
          <a:p>
            <a:pPr marL="514350" indent="-514350">
              <a:buFont typeface="+mj-lt"/>
              <a:buAutoNum type="arabicPeriod"/>
            </a:pPr>
            <a:r>
              <a:rPr lang="en-US" b="1" dirty="0"/>
              <a:t>Regression </a:t>
            </a:r>
            <a:r>
              <a:rPr lang="en-US" dirty="0"/>
              <a:t>- Linear Activation Function</a:t>
            </a:r>
          </a:p>
          <a:p>
            <a:pPr marL="514350" indent="-514350">
              <a:buFont typeface="+mj-lt"/>
              <a:buAutoNum type="arabicPeriod"/>
            </a:pPr>
            <a:r>
              <a:rPr lang="en-US" b="1" dirty="0"/>
              <a:t>Binary Classification</a:t>
            </a:r>
            <a:r>
              <a:rPr lang="en-US" dirty="0"/>
              <a:t>—Sigmoid/Logistic Activation Function</a:t>
            </a:r>
          </a:p>
          <a:p>
            <a:pPr marL="514350" indent="-514350">
              <a:buFont typeface="+mj-lt"/>
              <a:buAutoNum type="arabicPeriod"/>
            </a:pPr>
            <a:r>
              <a:rPr lang="en-US" b="1" dirty="0"/>
              <a:t>Multiclass Classification</a:t>
            </a:r>
            <a:r>
              <a:rPr lang="en-US" dirty="0"/>
              <a:t>—</a:t>
            </a:r>
            <a:r>
              <a:rPr lang="en-US" dirty="0" err="1"/>
              <a:t>Softmax</a:t>
            </a:r>
            <a:endParaRPr lang="en-US" dirty="0"/>
          </a:p>
          <a:p>
            <a:pPr marL="514350" indent="-514350">
              <a:buFont typeface="+mj-lt"/>
              <a:buAutoNum type="arabicPeriod"/>
            </a:pPr>
            <a:r>
              <a:rPr lang="en-US" b="1" dirty="0" err="1"/>
              <a:t>Multilabel</a:t>
            </a:r>
            <a:r>
              <a:rPr lang="en-US" b="1" dirty="0"/>
              <a:t> Classification</a:t>
            </a:r>
            <a:r>
              <a:rPr lang="en-US" dirty="0"/>
              <a:t>—Sigmoid</a:t>
            </a:r>
          </a:p>
          <a:p>
            <a:pPr marL="514350" indent="-514350">
              <a:buFont typeface="+mj-lt"/>
              <a:buAutoNum type="arabicPeriod"/>
            </a:pPr>
            <a:r>
              <a:rPr lang="en-US" b="1" dirty="0"/>
              <a:t>Convolutional Neural Network (CNN</a:t>
            </a:r>
            <a:r>
              <a:rPr lang="en-US" b="1" dirty="0" smtClean="0"/>
              <a:t>) ,(ANN)</a:t>
            </a:r>
            <a:r>
              <a:rPr lang="en-US" dirty="0" smtClean="0"/>
              <a:t>: </a:t>
            </a:r>
            <a:r>
              <a:rPr lang="en-US" dirty="0" err="1"/>
              <a:t>ReLU</a:t>
            </a:r>
            <a:r>
              <a:rPr lang="en-US" dirty="0"/>
              <a:t> activation function.</a:t>
            </a:r>
          </a:p>
          <a:p>
            <a:pPr marL="514350" indent="-514350">
              <a:buFont typeface="+mj-lt"/>
              <a:buAutoNum type="arabicPeriod"/>
            </a:pPr>
            <a:r>
              <a:rPr lang="en-US" b="1" dirty="0"/>
              <a:t>Recurrent Neural Network</a:t>
            </a:r>
            <a:r>
              <a:rPr lang="en-US" dirty="0"/>
              <a:t>: </a:t>
            </a:r>
            <a:r>
              <a:rPr lang="en-US" dirty="0" err="1"/>
              <a:t>Tanh</a:t>
            </a:r>
            <a:r>
              <a:rPr lang="en-US" dirty="0"/>
              <a:t> and/or Sigmoid activation function.</a:t>
            </a:r>
          </a:p>
          <a:p>
            <a:endParaRPr lang="en-US" dirty="0"/>
          </a:p>
        </p:txBody>
      </p:sp>
    </p:spTree>
    <p:extLst>
      <p:ext uri="{BB962C8B-B14F-4D97-AF65-F5344CB8AC3E}">
        <p14:creationId xmlns:p14="http://schemas.microsoft.com/office/powerpoint/2010/main" val="197871624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TotalTime>
  <Words>2213</Words>
  <Application>Microsoft Office PowerPoint</Application>
  <PresentationFormat>Widescreen</PresentationFormat>
  <Paragraphs>185</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PowerPoint Presentation</vt:lpstr>
      <vt:lpstr>1)Linear Activation Function:</vt:lpstr>
      <vt:lpstr> 2)Binary Step Function:</vt:lpstr>
      <vt:lpstr>3)Non-Linear Activation Functions:</vt:lpstr>
      <vt:lpstr>PowerPoint Presentation</vt:lpstr>
      <vt:lpstr> ii)Tanh Function (Hyperbolic Tangent):</vt:lpstr>
      <vt:lpstr>iii) ReLU Function:</vt:lpstr>
      <vt:lpstr>The advantages of ReLU :</vt:lpstr>
      <vt:lpstr>iv)Leaky ReLU</vt:lpstr>
      <vt:lpstr>v) Parametric ReLU Function: </vt:lpstr>
      <vt:lpstr>vi) Exponential Linear Units (ELUs) Function</vt:lpstr>
      <vt:lpstr>vii) Softmax :</vt:lpstr>
      <vt:lpstr>PowerPoint Presentation</vt:lpstr>
      <vt:lpstr>viii) Swish :</vt:lpstr>
      <vt:lpstr>ix) Gaussian Error Linear Unit (GELU)</vt:lpstr>
      <vt:lpstr>x) Scaled Exponential Linear Unit (SELU)</vt:lpstr>
      <vt:lpstr>How to choose the right Activation Function?</vt:lpstr>
      <vt:lpstr>Few rules for choosing the activation function for your output layer based on the type of prediction problem that you are solving: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Ajith</dc:creator>
  <cp:lastModifiedBy>Ajith</cp:lastModifiedBy>
  <cp:revision>49</cp:revision>
  <dcterms:created xsi:type="dcterms:W3CDTF">2022-09-20T15:03:32Z</dcterms:created>
  <dcterms:modified xsi:type="dcterms:W3CDTF">2022-09-20T17:11:07Z</dcterms:modified>
</cp:coreProperties>
</file>