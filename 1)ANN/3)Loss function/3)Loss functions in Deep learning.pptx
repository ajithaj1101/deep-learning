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3" r:id="rId7"/>
    <p:sldId id="262" r:id="rId8"/>
    <p:sldId id="264" r:id="rId9"/>
    <p:sldId id="265" r:id="rId10"/>
    <p:sldId id="266" r:id="rId11"/>
    <p:sldId id="267" r:id="rId12"/>
    <p:sldId id="268" r:id="rId13"/>
    <p:sldId id="269"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3" d="100"/>
          <a:sy n="73" d="100"/>
        </p:scale>
        <p:origin x="61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C34194C6-320E-434A-850E-1F0CA2FB044E}" type="datetimeFigureOut">
              <a:rPr lang="en-US" smtClean="0"/>
              <a:t>9/20/2022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087B79-197E-42AB-A72A-0358F314C02E}" type="slidenum">
              <a:rPr lang="en-US" smtClean="0"/>
              <a:t>‹#›</a:t>
            </a:fld>
            <a:endParaRPr lang="en-US"/>
          </a:p>
        </p:txBody>
      </p:sp>
    </p:spTree>
    <p:extLst>
      <p:ext uri="{BB962C8B-B14F-4D97-AF65-F5344CB8AC3E}">
        <p14:creationId xmlns:p14="http://schemas.microsoft.com/office/powerpoint/2010/main" val="27958992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34194C6-320E-434A-850E-1F0CA2FB044E}" type="datetimeFigureOut">
              <a:rPr lang="en-US" smtClean="0"/>
              <a:t>9/20/2022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087B79-197E-42AB-A72A-0358F314C02E}" type="slidenum">
              <a:rPr lang="en-US" smtClean="0"/>
              <a:t>‹#›</a:t>
            </a:fld>
            <a:endParaRPr lang="en-US"/>
          </a:p>
        </p:txBody>
      </p:sp>
    </p:spTree>
    <p:extLst>
      <p:ext uri="{BB962C8B-B14F-4D97-AF65-F5344CB8AC3E}">
        <p14:creationId xmlns:p14="http://schemas.microsoft.com/office/powerpoint/2010/main" val="40246956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34194C6-320E-434A-850E-1F0CA2FB044E}" type="datetimeFigureOut">
              <a:rPr lang="en-US" smtClean="0"/>
              <a:t>9/20/2022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087B79-197E-42AB-A72A-0358F314C02E}" type="slidenum">
              <a:rPr lang="en-US" smtClean="0"/>
              <a:t>‹#›</a:t>
            </a:fld>
            <a:endParaRPr lang="en-US"/>
          </a:p>
        </p:txBody>
      </p:sp>
    </p:spTree>
    <p:extLst>
      <p:ext uri="{BB962C8B-B14F-4D97-AF65-F5344CB8AC3E}">
        <p14:creationId xmlns:p14="http://schemas.microsoft.com/office/powerpoint/2010/main" val="24295170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C34194C6-320E-434A-850E-1F0CA2FB044E}" type="datetimeFigureOut">
              <a:rPr lang="en-US" smtClean="0"/>
              <a:t>9/20/2022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B087B79-197E-42AB-A72A-0358F314C02E}" type="slidenum">
              <a:rPr lang="en-US" smtClean="0"/>
              <a:t>‹#›</a:t>
            </a:fld>
            <a:endParaRPr lang="en-US"/>
          </a:p>
        </p:txBody>
      </p:sp>
    </p:spTree>
    <p:extLst>
      <p:ext uri="{BB962C8B-B14F-4D97-AF65-F5344CB8AC3E}">
        <p14:creationId xmlns:p14="http://schemas.microsoft.com/office/powerpoint/2010/main" val="10513654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C34194C6-320E-434A-850E-1F0CA2FB044E}" type="datetimeFigureOut">
              <a:rPr lang="en-US" smtClean="0"/>
              <a:t>9/20/2022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B087B79-197E-42AB-A72A-0358F314C02E}" type="slidenum">
              <a:rPr lang="en-US" smtClean="0"/>
              <a:t>‹#›</a:t>
            </a:fld>
            <a:endParaRPr lang="en-US"/>
          </a:p>
        </p:txBody>
      </p:sp>
    </p:spTree>
    <p:extLst>
      <p:ext uri="{BB962C8B-B14F-4D97-AF65-F5344CB8AC3E}">
        <p14:creationId xmlns:p14="http://schemas.microsoft.com/office/powerpoint/2010/main" val="39965408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C34194C6-320E-434A-850E-1F0CA2FB044E}" type="datetimeFigureOut">
              <a:rPr lang="en-US" smtClean="0"/>
              <a:t>9/20/2022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B087B79-197E-42AB-A72A-0358F314C02E}" type="slidenum">
              <a:rPr lang="en-US" smtClean="0"/>
              <a:t>‹#›</a:t>
            </a:fld>
            <a:endParaRPr lang="en-US"/>
          </a:p>
        </p:txBody>
      </p:sp>
    </p:spTree>
    <p:extLst>
      <p:ext uri="{BB962C8B-B14F-4D97-AF65-F5344CB8AC3E}">
        <p14:creationId xmlns:p14="http://schemas.microsoft.com/office/powerpoint/2010/main" val="11567774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34194C6-320E-434A-850E-1F0CA2FB044E}" type="datetimeFigureOut">
              <a:rPr lang="en-US" smtClean="0"/>
              <a:t>9/20/2022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B087B79-197E-42AB-A72A-0358F314C02E}" type="slidenum">
              <a:rPr lang="en-US" smtClean="0"/>
              <a:t>‹#›</a:t>
            </a:fld>
            <a:endParaRPr lang="en-US"/>
          </a:p>
        </p:txBody>
      </p:sp>
    </p:spTree>
    <p:extLst>
      <p:ext uri="{BB962C8B-B14F-4D97-AF65-F5344CB8AC3E}">
        <p14:creationId xmlns:p14="http://schemas.microsoft.com/office/powerpoint/2010/main" val="21945904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C34194C6-320E-434A-850E-1F0CA2FB044E}" type="datetimeFigureOut">
              <a:rPr lang="en-US" smtClean="0"/>
              <a:t>9/20/2022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B087B79-197E-42AB-A72A-0358F314C02E}" type="slidenum">
              <a:rPr lang="en-US" smtClean="0"/>
              <a:t>‹#›</a:t>
            </a:fld>
            <a:endParaRPr lang="en-US"/>
          </a:p>
        </p:txBody>
      </p:sp>
    </p:spTree>
    <p:extLst>
      <p:ext uri="{BB962C8B-B14F-4D97-AF65-F5344CB8AC3E}">
        <p14:creationId xmlns:p14="http://schemas.microsoft.com/office/powerpoint/2010/main" val="39322625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C34194C6-320E-434A-850E-1F0CA2FB044E}" type="datetimeFigureOut">
              <a:rPr lang="en-US" smtClean="0"/>
              <a:t>9/20/2022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B087B79-197E-42AB-A72A-0358F314C02E}" type="slidenum">
              <a:rPr lang="en-US" smtClean="0"/>
              <a:t>‹#›</a:t>
            </a:fld>
            <a:endParaRPr lang="en-US"/>
          </a:p>
        </p:txBody>
      </p:sp>
    </p:spTree>
    <p:extLst>
      <p:ext uri="{BB962C8B-B14F-4D97-AF65-F5344CB8AC3E}">
        <p14:creationId xmlns:p14="http://schemas.microsoft.com/office/powerpoint/2010/main" val="6334964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34194C6-320E-434A-850E-1F0CA2FB044E}" type="datetimeFigureOut">
              <a:rPr lang="en-US" smtClean="0"/>
              <a:t>9/20/2022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087B79-197E-42AB-A72A-0358F314C02E}" type="slidenum">
              <a:rPr lang="en-US" smtClean="0"/>
              <a:t>‹#›</a:t>
            </a:fld>
            <a:endParaRPr lang="en-US"/>
          </a:p>
        </p:txBody>
      </p:sp>
    </p:spTree>
    <p:extLst>
      <p:ext uri="{BB962C8B-B14F-4D97-AF65-F5344CB8AC3E}">
        <p14:creationId xmlns:p14="http://schemas.microsoft.com/office/powerpoint/2010/main" val="25724019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34194C6-320E-434A-850E-1F0CA2FB044E}" type="datetimeFigureOut">
              <a:rPr lang="en-US" smtClean="0"/>
              <a:t>9/20/2022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087B79-197E-42AB-A72A-0358F314C02E}" type="slidenum">
              <a:rPr lang="en-US" smtClean="0"/>
              <a:t>‹#›</a:t>
            </a:fld>
            <a:endParaRPr lang="en-US"/>
          </a:p>
        </p:txBody>
      </p:sp>
    </p:spTree>
    <p:extLst>
      <p:ext uri="{BB962C8B-B14F-4D97-AF65-F5344CB8AC3E}">
        <p14:creationId xmlns:p14="http://schemas.microsoft.com/office/powerpoint/2010/main" val="5135696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34194C6-320E-434A-850E-1F0CA2FB044E}" type="datetimeFigureOut">
              <a:rPr lang="en-US" smtClean="0"/>
              <a:t>9/20/2022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B087B79-197E-42AB-A72A-0358F314C02E}" type="slidenum">
              <a:rPr lang="en-US" smtClean="0"/>
              <a:t>‹#›</a:t>
            </a:fld>
            <a:endParaRPr lang="en-US"/>
          </a:p>
        </p:txBody>
      </p:sp>
    </p:spTree>
    <p:extLst>
      <p:ext uri="{BB962C8B-B14F-4D97-AF65-F5344CB8AC3E}">
        <p14:creationId xmlns:p14="http://schemas.microsoft.com/office/powerpoint/2010/main" val="11012236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Loss functions in Deep learning</a:t>
            </a:r>
            <a:endParaRPr lang="en-US" b="1" dirty="0"/>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Neural Network uses </a:t>
            </a:r>
            <a:r>
              <a:rPr lang="en-US" dirty="0" smtClean="0">
                <a:latin typeface="Times New Roman" panose="02020603050405020304" pitchFamily="18" charset="0"/>
                <a:cs typeface="Times New Roman" panose="02020603050405020304" pitchFamily="18" charset="0"/>
              </a:rPr>
              <a:t>optimizing </a:t>
            </a:r>
            <a:r>
              <a:rPr lang="en-US" dirty="0">
                <a:latin typeface="Times New Roman" panose="02020603050405020304" pitchFamily="18" charset="0"/>
                <a:cs typeface="Times New Roman" panose="02020603050405020304" pitchFamily="18" charset="0"/>
              </a:rPr>
              <a:t>strategies like stochastic gradient descent to minimize the error in the algorithm. The way we actually compute this error is by using a Loss Function. It is used to quantify how good or bad the model is performing. These are divided into two categories </a:t>
            </a:r>
            <a:r>
              <a:rPr lang="en-US" dirty="0" smtClean="0">
                <a:latin typeface="Times New Roman" panose="02020603050405020304" pitchFamily="18" charset="0"/>
                <a:cs typeface="Times New Roman" panose="02020603050405020304" pitchFamily="18" charset="0"/>
              </a:rPr>
              <a:t>(</a:t>
            </a:r>
            <a:r>
              <a:rPr lang="en-US" dirty="0" err="1" smtClean="0">
                <a:latin typeface="Times New Roman" panose="02020603050405020304" pitchFamily="18" charset="0"/>
                <a:cs typeface="Times New Roman" panose="02020603050405020304" pitchFamily="18" charset="0"/>
              </a:rPr>
              <a:t>i.e</a:t>
            </a:r>
            <a:r>
              <a:rPr lang="en-US" dirty="0" smtClean="0">
                <a:latin typeface="Times New Roman" panose="02020603050405020304" pitchFamily="18" charset="0"/>
                <a:cs typeface="Times New Roman" panose="02020603050405020304" pitchFamily="18" charset="0"/>
              </a:rPr>
              <a:t>) Regression </a:t>
            </a:r>
            <a:r>
              <a:rPr lang="en-US" dirty="0">
                <a:latin typeface="Times New Roman" panose="02020603050405020304" pitchFamily="18" charset="0"/>
                <a:cs typeface="Times New Roman" panose="02020603050405020304" pitchFamily="18" charset="0"/>
              </a:rPr>
              <a:t>loss and Classification Loss.</a:t>
            </a:r>
          </a:p>
        </p:txBody>
      </p:sp>
    </p:spTree>
    <p:extLst>
      <p:ext uri="{BB962C8B-B14F-4D97-AF65-F5344CB8AC3E}">
        <p14:creationId xmlns:p14="http://schemas.microsoft.com/office/powerpoint/2010/main" val="34521200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36658"/>
          </a:xfrm>
        </p:spPr>
        <p:txBody>
          <a:bodyPr>
            <a:normAutofit/>
          </a:bodyPr>
          <a:lstStyle/>
          <a:p>
            <a:r>
              <a:rPr lang="en-US" sz="3500" b="1" dirty="0" smtClean="0"/>
              <a:t>1)</a:t>
            </a:r>
            <a:r>
              <a:rPr lang="en-US" sz="3500" b="1" dirty="0"/>
              <a:t> Regression Loss </a:t>
            </a:r>
            <a:r>
              <a:rPr lang="en-US" sz="3500" b="1" dirty="0" smtClean="0"/>
              <a:t>Function</a:t>
            </a:r>
            <a:endParaRPr lang="en-US" sz="3500" b="1" dirty="0"/>
          </a:p>
        </p:txBody>
      </p:sp>
      <p:sp>
        <p:nvSpPr>
          <p:cNvPr id="3" name="Content Placeholder 2"/>
          <p:cNvSpPr>
            <a:spLocks noGrp="1"/>
          </p:cNvSpPr>
          <p:nvPr>
            <p:ph idx="1"/>
          </p:nvPr>
        </p:nvSpPr>
        <p:spPr>
          <a:xfrm>
            <a:off x="838200" y="1306286"/>
            <a:ext cx="10515600" cy="4870677"/>
          </a:xfrm>
        </p:spPr>
        <p:txBody>
          <a:bodyPr/>
          <a:lstStyle/>
          <a:p>
            <a:pPr marL="0" indent="0">
              <a:buNone/>
            </a:pPr>
            <a:r>
              <a:rPr lang="en-US" dirty="0" smtClean="0"/>
              <a:t>Regression </a:t>
            </a:r>
            <a:r>
              <a:rPr lang="en-US" dirty="0"/>
              <a:t>Loss is used when we are predicting continuous values like the price of a house or sales of a company</a:t>
            </a:r>
            <a:r>
              <a:rPr lang="en-US" dirty="0" smtClean="0"/>
              <a:t>.</a:t>
            </a:r>
          </a:p>
          <a:p>
            <a:pPr marL="0" indent="0">
              <a:buNone/>
            </a:pPr>
            <a:r>
              <a:rPr lang="en-US" dirty="0" smtClean="0"/>
              <a:t>	</a:t>
            </a:r>
          </a:p>
          <a:p>
            <a:pPr marL="0" indent="0">
              <a:buNone/>
            </a:pPr>
            <a:r>
              <a:rPr lang="en-US" b="1" dirty="0" smtClean="0"/>
              <a:t>Types</a:t>
            </a:r>
            <a:endParaRPr lang="en-US" b="1" dirty="0"/>
          </a:p>
          <a:p>
            <a:pPr marL="0" indent="0">
              <a:buNone/>
            </a:pPr>
            <a:r>
              <a:rPr lang="en-US" dirty="0" smtClean="0"/>
              <a:t>	</a:t>
            </a:r>
            <a:r>
              <a:rPr lang="en-US" dirty="0" err="1" smtClean="0"/>
              <a:t>i</a:t>
            </a:r>
            <a:r>
              <a:rPr lang="en-US" dirty="0" smtClean="0"/>
              <a:t>) </a:t>
            </a:r>
            <a:r>
              <a:rPr lang="es-ES" dirty="0" smtClean="0"/>
              <a:t>Mean </a:t>
            </a:r>
            <a:r>
              <a:rPr lang="es-ES" dirty="0" err="1"/>
              <a:t>Absolute</a:t>
            </a:r>
            <a:r>
              <a:rPr lang="es-ES" dirty="0"/>
              <a:t> Error/ L1 </a:t>
            </a:r>
            <a:r>
              <a:rPr lang="es-ES" dirty="0" err="1"/>
              <a:t>loss</a:t>
            </a:r>
            <a:endParaRPr lang="es-ES" dirty="0"/>
          </a:p>
          <a:p>
            <a:pPr marL="0" indent="0">
              <a:buNone/>
            </a:pPr>
            <a:r>
              <a:rPr lang="es-ES" dirty="0" smtClean="0"/>
              <a:t>	ii)</a:t>
            </a:r>
            <a:r>
              <a:rPr lang="en-US" dirty="0"/>
              <a:t> Mean Squared Error/Squared loss/ L2 </a:t>
            </a:r>
            <a:r>
              <a:rPr lang="en-US" dirty="0" smtClean="0"/>
              <a:t>loss</a:t>
            </a:r>
          </a:p>
          <a:p>
            <a:pPr marL="0" indent="0">
              <a:buNone/>
            </a:pPr>
            <a:r>
              <a:rPr lang="en-US" dirty="0"/>
              <a:t>	</a:t>
            </a:r>
            <a:r>
              <a:rPr lang="en-US" dirty="0" smtClean="0"/>
              <a:t>iii)</a:t>
            </a:r>
            <a:r>
              <a:rPr lang="en-US" dirty="0"/>
              <a:t> Huber Loss</a:t>
            </a:r>
            <a:r>
              <a:rPr lang="es-ES" dirty="0" smtClean="0"/>
              <a:t/>
            </a:r>
            <a:br>
              <a:rPr lang="es-ES" dirty="0" smtClean="0"/>
            </a:br>
            <a:endParaRPr lang="en-US" dirty="0"/>
          </a:p>
        </p:txBody>
      </p:sp>
    </p:spTree>
    <p:extLst>
      <p:ext uri="{BB962C8B-B14F-4D97-AF65-F5344CB8AC3E}">
        <p14:creationId xmlns:p14="http://schemas.microsoft.com/office/powerpoint/2010/main" val="17185650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84406"/>
          </a:xfrm>
        </p:spPr>
        <p:txBody>
          <a:bodyPr/>
          <a:lstStyle/>
          <a:p>
            <a:r>
              <a:rPr lang="en-US" sz="3500" b="1" dirty="0" err="1" smtClean="0"/>
              <a:t>i</a:t>
            </a:r>
            <a:r>
              <a:rPr lang="en-US" sz="3500" b="1" dirty="0" smtClean="0"/>
              <a:t>)</a:t>
            </a:r>
            <a:r>
              <a:rPr lang="es-ES" sz="3500" b="1" dirty="0"/>
              <a:t> Mean </a:t>
            </a:r>
            <a:r>
              <a:rPr lang="es-ES" sz="3500" b="1" dirty="0" err="1" smtClean="0"/>
              <a:t>Absolute</a:t>
            </a:r>
            <a:r>
              <a:rPr lang="es-ES" sz="3500" b="1" dirty="0" smtClean="0"/>
              <a:t> </a:t>
            </a:r>
            <a:r>
              <a:rPr lang="es-ES" sz="3500" b="1" dirty="0"/>
              <a:t>Error/ L1 </a:t>
            </a:r>
            <a:r>
              <a:rPr lang="es-ES" sz="3500" b="1" dirty="0" err="1"/>
              <a:t>loss</a:t>
            </a:r>
            <a:endParaRPr lang="en-US" sz="3500" b="1" dirty="0"/>
          </a:p>
        </p:txBody>
      </p:sp>
      <p:sp>
        <p:nvSpPr>
          <p:cNvPr id="3" name="Content Placeholder 2"/>
          <p:cNvSpPr>
            <a:spLocks noGrp="1"/>
          </p:cNvSpPr>
          <p:nvPr>
            <p:ph idx="1"/>
          </p:nvPr>
        </p:nvSpPr>
        <p:spPr>
          <a:xfrm>
            <a:off x="838200" y="1306286"/>
            <a:ext cx="10515600" cy="4896803"/>
          </a:xfrm>
        </p:spPr>
        <p:txBody>
          <a:bodyPr>
            <a:normAutofit lnSpcReduction="10000"/>
          </a:bodyPr>
          <a:lstStyle/>
          <a:p>
            <a:r>
              <a:rPr lang="en-US" sz="2300" dirty="0"/>
              <a:t>The Mean Absolute Error (MAE) is also the simplest loss function. To calculate the MAE, you take the difference between the actual value and model prediction and average it across the whole dataset</a:t>
            </a:r>
            <a:r>
              <a:rPr lang="en-US" sz="2300" dirty="0" smtClean="0"/>
              <a:t>.</a:t>
            </a:r>
          </a:p>
          <a:p>
            <a:pPr marL="0" indent="0">
              <a:buNone/>
            </a:pPr>
            <a:endParaRPr lang="en-US" sz="2300" dirty="0" smtClean="0"/>
          </a:p>
          <a:p>
            <a:pPr marL="0" indent="0">
              <a:buNone/>
            </a:pPr>
            <a:endParaRPr lang="en-US" sz="2300" dirty="0"/>
          </a:p>
          <a:p>
            <a:pPr marL="0" indent="0">
              <a:buNone/>
            </a:pPr>
            <a:r>
              <a:rPr lang="en-US" b="1" dirty="0"/>
              <a:t/>
            </a:r>
            <a:br>
              <a:rPr lang="en-US" b="1" dirty="0"/>
            </a:br>
            <a:r>
              <a:rPr lang="en-US" sz="2100" b="1" dirty="0"/>
              <a:t>Advantage</a:t>
            </a:r>
            <a:endParaRPr lang="en-US" sz="2100" dirty="0"/>
          </a:p>
          <a:p>
            <a:r>
              <a:rPr lang="en-US" sz="2100" dirty="0" smtClean="0"/>
              <a:t>Intuitive </a:t>
            </a:r>
            <a:r>
              <a:rPr lang="en-US" sz="2100" dirty="0"/>
              <a:t>and easy</a:t>
            </a:r>
          </a:p>
          <a:p>
            <a:r>
              <a:rPr lang="en-US" sz="2100" dirty="0" smtClean="0"/>
              <a:t>Error </a:t>
            </a:r>
            <a:r>
              <a:rPr lang="en-US" sz="2100" dirty="0"/>
              <a:t>Unit Same as the output column.</a:t>
            </a:r>
          </a:p>
          <a:p>
            <a:r>
              <a:rPr lang="en-US" sz="2100" dirty="0" smtClean="0"/>
              <a:t>Robust </a:t>
            </a:r>
            <a:r>
              <a:rPr lang="en-US" sz="2100" dirty="0"/>
              <a:t>to outlier</a:t>
            </a:r>
          </a:p>
          <a:p>
            <a:pPr marL="0" indent="0">
              <a:buNone/>
            </a:pPr>
            <a:r>
              <a:rPr lang="en-US" sz="2100" b="1" dirty="0"/>
              <a:t>Disadvantage</a:t>
            </a:r>
            <a:endParaRPr lang="en-US" sz="2100" dirty="0"/>
          </a:p>
          <a:p>
            <a:r>
              <a:rPr lang="en-US" sz="2100" dirty="0" smtClean="0"/>
              <a:t>Graph</a:t>
            </a:r>
            <a:r>
              <a:rPr lang="en-US" sz="2100" dirty="0"/>
              <a:t>, not differential. we can not use gradient descent directly, then we can </a:t>
            </a:r>
            <a:r>
              <a:rPr lang="en-US" sz="2100" dirty="0" err="1"/>
              <a:t>subgradient</a:t>
            </a:r>
            <a:r>
              <a:rPr lang="en-US" sz="2100" dirty="0"/>
              <a:t> calculation.</a:t>
            </a:r>
          </a:p>
          <a:p>
            <a:pPr marL="0" indent="0">
              <a:buNone/>
            </a:pPr>
            <a:endParaRPr lang="en-US" sz="23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80787" y="2398679"/>
            <a:ext cx="4052424" cy="1221494"/>
          </a:xfrm>
          <a:prstGeom prst="rect">
            <a:avLst/>
          </a:prstGeom>
        </p:spPr>
      </p:pic>
    </p:spTree>
    <p:extLst>
      <p:ext uri="{BB962C8B-B14F-4D97-AF65-F5344CB8AC3E}">
        <p14:creationId xmlns:p14="http://schemas.microsoft.com/office/powerpoint/2010/main" val="8362109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40715"/>
          </a:xfrm>
        </p:spPr>
        <p:txBody>
          <a:bodyPr>
            <a:normAutofit/>
          </a:bodyPr>
          <a:lstStyle/>
          <a:p>
            <a:r>
              <a:rPr lang="en-US" sz="3500" b="1" dirty="0" smtClean="0"/>
              <a:t>ii) </a:t>
            </a:r>
            <a:r>
              <a:rPr lang="en-US" sz="3500" b="1" dirty="0"/>
              <a:t>Mean Squared Error/Squared loss/ L2 loss  </a:t>
            </a:r>
          </a:p>
        </p:txBody>
      </p:sp>
      <p:sp>
        <p:nvSpPr>
          <p:cNvPr id="3" name="Content Placeholder 2"/>
          <p:cNvSpPr>
            <a:spLocks noGrp="1"/>
          </p:cNvSpPr>
          <p:nvPr>
            <p:ph idx="1"/>
          </p:nvPr>
        </p:nvSpPr>
        <p:spPr>
          <a:xfrm>
            <a:off x="838200" y="1201783"/>
            <a:ext cx="10515600" cy="4975180"/>
          </a:xfrm>
        </p:spPr>
        <p:txBody>
          <a:bodyPr>
            <a:normAutofit lnSpcReduction="10000"/>
          </a:bodyPr>
          <a:lstStyle/>
          <a:p>
            <a:r>
              <a:rPr lang="en-US" sz="2500" dirty="0"/>
              <a:t>The Mean Squared Error (MSE) is the simplest and most common loss function. To calculate the MSE, you take the difference between the actual value and model prediction, square it, and average it across the whole dataset</a:t>
            </a:r>
            <a:r>
              <a:rPr lang="en-US" sz="2500" dirty="0" smtClean="0"/>
              <a:t>.</a:t>
            </a:r>
          </a:p>
          <a:p>
            <a:endParaRPr lang="en-US" sz="2500" dirty="0"/>
          </a:p>
          <a:p>
            <a:pPr marL="0" indent="0">
              <a:buNone/>
            </a:pPr>
            <a:endParaRPr lang="en-US" sz="2500" dirty="0" smtClean="0"/>
          </a:p>
          <a:p>
            <a:pPr marL="0" indent="0">
              <a:buNone/>
            </a:pPr>
            <a:r>
              <a:rPr lang="en-US" sz="2200" b="1" dirty="0"/>
              <a:t>Advantage</a:t>
            </a:r>
            <a:endParaRPr lang="en-US" sz="2200" dirty="0"/>
          </a:p>
          <a:p>
            <a:r>
              <a:rPr lang="en-US" sz="2200" dirty="0" smtClean="0"/>
              <a:t>Easy </a:t>
            </a:r>
            <a:r>
              <a:rPr lang="en-US" sz="2200" dirty="0"/>
              <a:t>to interpret.</a:t>
            </a:r>
          </a:p>
          <a:p>
            <a:r>
              <a:rPr lang="en-US" sz="2200" dirty="0" smtClean="0"/>
              <a:t>Always </a:t>
            </a:r>
            <a:r>
              <a:rPr lang="en-US" sz="2200" dirty="0"/>
              <a:t>differential because of the square.</a:t>
            </a:r>
          </a:p>
          <a:p>
            <a:r>
              <a:rPr lang="en-US" sz="2200" dirty="0" smtClean="0"/>
              <a:t>Only </a:t>
            </a:r>
            <a:r>
              <a:rPr lang="en-US" sz="2200" dirty="0"/>
              <a:t>one local minima.</a:t>
            </a:r>
          </a:p>
          <a:p>
            <a:pPr marL="0" indent="0">
              <a:buNone/>
            </a:pPr>
            <a:r>
              <a:rPr lang="en-US" sz="2200" b="1" dirty="0"/>
              <a:t>Disadvantage</a:t>
            </a:r>
            <a:endParaRPr lang="en-US" sz="2200" dirty="0"/>
          </a:p>
          <a:p>
            <a:r>
              <a:rPr lang="en-US" sz="2200" dirty="0" smtClean="0"/>
              <a:t>Error </a:t>
            </a:r>
            <a:r>
              <a:rPr lang="en-US" sz="2200" dirty="0"/>
              <a:t>unit in the square. because the unit in the square is not understood properly.</a:t>
            </a:r>
          </a:p>
          <a:p>
            <a:r>
              <a:rPr lang="en-US" sz="2200" dirty="0" smtClean="0"/>
              <a:t>Not </a:t>
            </a:r>
            <a:r>
              <a:rPr lang="en-US" sz="2200" dirty="0"/>
              <a:t>robust to outlier</a:t>
            </a:r>
          </a:p>
          <a:p>
            <a:pPr marL="0" indent="0">
              <a:buNone/>
            </a:pPr>
            <a:endParaRPr lang="en-US" sz="25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84845" y="2479929"/>
            <a:ext cx="3869544" cy="1166370"/>
          </a:xfrm>
          <a:prstGeom prst="rect">
            <a:avLst/>
          </a:prstGeom>
        </p:spPr>
      </p:pic>
    </p:spTree>
    <p:extLst>
      <p:ext uri="{BB962C8B-B14F-4D97-AF65-F5344CB8AC3E}">
        <p14:creationId xmlns:p14="http://schemas.microsoft.com/office/powerpoint/2010/main" val="32622695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14589"/>
          </a:xfrm>
        </p:spPr>
        <p:txBody>
          <a:bodyPr/>
          <a:lstStyle/>
          <a:p>
            <a:r>
              <a:rPr lang="en-US" sz="3500" b="1" dirty="0" smtClean="0"/>
              <a:t>iii)</a:t>
            </a:r>
            <a:r>
              <a:rPr lang="en-US" sz="3500" b="1" dirty="0"/>
              <a:t> Huber Loss</a:t>
            </a:r>
          </a:p>
        </p:txBody>
      </p:sp>
      <p:sp>
        <p:nvSpPr>
          <p:cNvPr id="3" name="Content Placeholder 2"/>
          <p:cNvSpPr>
            <a:spLocks noGrp="1"/>
          </p:cNvSpPr>
          <p:nvPr>
            <p:ph idx="1"/>
          </p:nvPr>
        </p:nvSpPr>
        <p:spPr>
          <a:xfrm>
            <a:off x="838200" y="1175657"/>
            <a:ext cx="10515600" cy="5001306"/>
          </a:xfrm>
        </p:spPr>
        <p:txBody>
          <a:bodyPr>
            <a:normAutofit lnSpcReduction="10000"/>
          </a:bodyPr>
          <a:lstStyle/>
          <a:p>
            <a:r>
              <a:rPr lang="en-US" sz="2500" dirty="0"/>
              <a:t>In statistics, the Huber loss is a loss function used in robust regression, that is less sensitive to outliers in data than the squared error loss</a:t>
            </a:r>
            <a:r>
              <a:rPr lang="en-US" sz="2500" dirty="0" smtClean="0"/>
              <a:t>.</a:t>
            </a:r>
          </a:p>
          <a:p>
            <a:r>
              <a:rPr lang="en-US" sz="2500" dirty="0" smtClean="0"/>
              <a:t>We can use this loss for classification</a:t>
            </a:r>
          </a:p>
          <a:p>
            <a:pPr marL="0" indent="0">
              <a:buNone/>
            </a:pPr>
            <a:endParaRPr lang="en-US" sz="2500" dirty="0" smtClean="0"/>
          </a:p>
          <a:p>
            <a:pPr marL="0" indent="0">
              <a:buNone/>
            </a:pPr>
            <a:endParaRPr lang="en-US" sz="2500" dirty="0"/>
          </a:p>
          <a:p>
            <a:pPr marL="0" indent="0">
              <a:buNone/>
            </a:pPr>
            <a:endParaRPr lang="en-US" sz="2500" dirty="0" smtClean="0"/>
          </a:p>
          <a:p>
            <a:pPr marL="0" indent="0">
              <a:buNone/>
            </a:pPr>
            <a:endParaRPr lang="en-US" sz="2500" dirty="0"/>
          </a:p>
          <a:p>
            <a:pPr marL="0" indent="0">
              <a:buNone/>
            </a:pPr>
            <a:endParaRPr lang="en-US" sz="2500" dirty="0" smtClean="0"/>
          </a:p>
          <a:p>
            <a:r>
              <a:rPr lang="en-US" sz="2200" dirty="0"/>
              <a:t>n – the number of data points.</a:t>
            </a:r>
          </a:p>
          <a:p>
            <a:r>
              <a:rPr lang="en-US" sz="2200" dirty="0"/>
              <a:t>y – the actual value of the data point. Also known as true value.</a:t>
            </a:r>
          </a:p>
          <a:p>
            <a:r>
              <a:rPr lang="en-US" sz="2200" dirty="0"/>
              <a:t>ŷ – the predicted value of the data point. This value is returned by the model.</a:t>
            </a:r>
          </a:p>
          <a:p>
            <a:r>
              <a:rPr lang="en-US" sz="2200" dirty="0"/>
              <a:t>δ – defines the point where the Huber loss function transitions from a quadratic to linear.</a:t>
            </a:r>
          </a:p>
          <a:p>
            <a:pPr marL="0" indent="0">
              <a:buNone/>
            </a:pPr>
            <a:endParaRPr lang="en-US" sz="25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76613" y="2795271"/>
            <a:ext cx="4565604" cy="1567178"/>
          </a:xfrm>
          <a:prstGeom prst="rect">
            <a:avLst/>
          </a:prstGeom>
        </p:spPr>
      </p:pic>
    </p:spTree>
    <p:extLst>
      <p:ext uri="{BB962C8B-B14F-4D97-AF65-F5344CB8AC3E}">
        <p14:creationId xmlns:p14="http://schemas.microsoft.com/office/powerpoint/2010/main" val="18236802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idx="1"/>
          </p:nvPr>
        </p:nvSpPr>
        <p:spPr>
          <a:xfrm>
            <a:off x="838200" y="587375"/>
            <a:ext cx="10515600" cy="5589588"/>
          </a:xfrm>
        </p:spPr>
        <p:txBody>
          <a:bodyPr/>
          <a:lstStyle/>
          <a:p>
            <a:pPr marL="0" indent="0">
              <a:buNone/>
            </a:pPr>
            <a:r>
              <a:rPr lang="en-US" sz="2500" b="1" dirty="0" smtClean="0"/>
              <a:t>Advantages</a:t>
            </a:r>
            <a:endParaRPr lang="en-US" sz="2500" dirty="0"/>
          </a:p>
          <a:p>
            <a:r>
              <a:rPr lang="en-US" sz="2500" dirty="0" smtClean="0"/>
              <a:t>Robust </a:t>
            </a:r>
            <a:r>
              <a:rPr lang="en-US" sz="2500" dirty="0"/>
              <a:t>to outlier</a:t>
            </a:r>
          </a:p>
          <a:p>
            <a:r>
              <a:rPr lang="en-US" sz="2500" dirty="0" smtClean="0"/>
              <a:t>It </a:t>
            </a:r>
            <a:r>
              <a:rPr lang="en-US" sz="2500" dirty="0"/>
              <a:t>lies between MAE and MSE.</a:t>
            </a:r>
          </a:p>
          <a:p>
            <a:pPr marL="0" indent="0">
              <a:buNone/>
            </a:pPr>
            <a:endParaRPr lang="en-US" sz="2500" b="1" dirty="0" smtClean="0"/>
          </a:p>
          <a:p>
            <a:pPr marL="0" indent="0">
              <a:buNone/>
            </a:pPr>
            <a:r>
              <a:rPr lang="en-US" sz="2500" b="1" dirty="0" smtClean="0"/>
              <a:t>Disadvantage</a:t>
            </a:r>
            <a:endParaRPr lang="en-US" sz="2500" dirty="0"/>
          </a:p>
          <a:p>
            <a:r>
              <a:rPr lang="en-US" sz="2500" dirty="0" smtClean="0"/>
              <a:t>Its </a:t>
            </a:r>
            <a:r>
              <a:rPr lang="en-US" sz="2500" dirty="0"/>
              <a:t>main disadvantage is the associated complexity. In order to maximize model accuracy, the </a:t>
            </a:r>
            <a:r>
              <a:rPr lang="en-US" sz="2500" dirty="0" err="1"/>
              <a:t>hyperparameter</a:t>
            </a:r>
            <a:r>
              <a:rPr lang="en-US" sz="2500" dirty="0"/>
              <a:t> δ will also need to be optimized which increases the training requirements</a:t>
            </a:r>
          </a:p>
          <a:p>
            <a:endParaRPr lang="en-US" dirty="0"/>
          </a:p>
        </p:txBody>
      </p:sp>
    </p:spTree>
    <p:extLst>
      <p:ext uri="{BB962C8B-B14F-4D97-AF65-F5344CB8AC3E}">
        <p14:creationId xmlns:p14="http://schemas.microsoft.com/office/powerpoint/2010/main" val="41210640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0635" y="300445"/>
            <a:ext cx="10515600" cy="679269"/>
          </a:xfrm>
        </p:spPr>
        <p:txBody>
          <a:bodyPr>
            <a:normAutofit/>
          </a:bodyPr>
          <a:lstStyle/>
          <a:p>
            <a:r>
              <a:rPr lang="en-US" sz="3500" b="1" dirty="0" smtClean="0"/>
              <a:t>2)Binary </a:t>
            </a:r>
            <a:r>
              <a:rPr lang="en-US" sz="3500" b="1" dirty="0"/>
              <a:t>Classification Loss </a:t>
            </a:r>
            <a:r>
              <a:rPr lang="en-US" sz="3500" b="1" dirty="0" smtClean="0"/>
              <a:t>Function</a:t>
            </a:r>
            <a:endParaRPr lang="en-US" sz="3500" dirty="0"/>
          </a:p>
        </p:txBody>
      </p:sp>
      <p:sp>
        <p:nvSpPr>
          <p:cNvPr id="3" name="Content Placeholder 2"/>
          <p:cNvSpPr>
            <a:spLocks noGrp="1"/>
          </p:cNvSpPr>
          <p:nvPr>
            <p:ph idx="1"/>
          </p:nvPr>
        </p:nvSpPr>
        <p:spPr>
          <a:xfrm>
            <a:off x="838200" y="979715"/>
            <a:ext cx="10515600" cy="5197248"/>
          </a:xfrm>
        </p:spPr>
        <p:txBody>
          <a:bodyPr>
            <a:normAutofit/>
          </a:bodyPr>
          <a:lstStyle/>
          <a:p>
            <a:endParaRPr lang="en-US" sz="2500" dirty="0" smtClean="0"/>
          </a:p>
          <a:p>
            <a:r>
              <a:rPr lang="en-US" sz="2500" dirty="0" smtClean="0"/>
              <a:t>Suppose </a:t>
            </a:r>
            <a:r>
              <a:rPr lang="en-US" sz="2500" dirty="0"/>
              <a:t>we are dealing with a Yes/No situation like “a person has diabetes or not”, in this kind of scenario Binary Classification Loss Function is used</a:t>
            </a:r>
            <a:r>
              <a:rPr lang="en-US" sz="2500" dirty="0" smtClean="0"/>
              <a:t>.</a:t>
            </a:r>
          </a:p>
          <a:p>
            <a:endParaRPr lang="en-US" sz="2500" dirty="0"/>
          </a:p>
          <a:p>
            <a:pPr marL="0" indent="0">
              <a:buNone/>
            </a:pPr>
            <a:r>
              <a:rPr lang="en-US" sz="2500" dirty="0" smtClean="0"/>
              <a:t>	</a:t>
            </a:r>
            <a:r>
              <a:rPr lang="en-US" sz="2500" dirty="0" err="1" smtClean="0"/>
              <a:t>i</a:t>
            </a:r>
            <a:r>
              <a:rPr lang="en-US" sz="2500" dirty="0" smtClean="0"/>
              <a:t>)</a:t>
            </a:r>
            <a:r>
              <a:rPr lang="en-US" dirty="0"/>
              <a:t> Binary Cross Entropy/log </a:t>
            </a:r>
            <a:r>
              <a:rPr lang="en-US" dirty="0" smtClean="0"/>
              <a:t>loss</a:t>
            </a:r>
          </a:p>
          <a:p>
            <a:pPr marL="0" indent="0">
              <a:buNone/>
            </a:pPr>
            <a:r>
              <a:rPr lang="en-US" sz="2500" dirty="0"/>
              <a:t>	</a:t>
            </a:r>
            <a:r>
              <a:rPr lang="en-US" sz="2500" dirty="0" smtClean="0"/>
              <a:t>ii)</a:t>
            </a:r>
            <a:r>
              <a:rPr lang="en-US" dirty="0"/>
              <a:t> </a:t>
            </a:r>
            <a:r>
              <a:rPr lang="en-US" dirty="0" smtClean="0"/>
              <a:t>Hinge loss</a:t>
            </a:r>
            <a:endParaRPr lang="en-US" sz="2500" dirty="0"/>
          </a:p>
        </p:txBody>
      </p:sp>
    </p:spTree>
    <p:extLst>
      <p:ext uri="{BB962C8B-B14F-4D97-AF65-F5344CB8AC3E}">
        <p14:creationId xmlns:p14="http://schemas.microsoft.com/office/powerpoint/2010/main" val="4417451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88464"/>
          </a:xfrm>
        </p:spPr>
        <p:txBody>
          <a:bodyPr>
            <a:normAutofit/>
          </a:bodyPr>
          <a:lstStyle/>
          <a:p>
            <a:r>
              <a:rPr lang="en-US" sz="3500" b="1" dirty="0" err="1" smtClean="0"/>
              <a:t>i</a:t>
            </a:r>
            <a:r>
              <a:rPr lang="en-US" sz="3500" b="1" dirty="0" smtClean="0"/>
              <a:t>)</a:t>
            </a:r>
            <a:r>
              <a:rPr lang="en-US" sz="3500" b="1" dirty="0" smtClean="0"/>
              <a:t> Binary Cross Entropy / log loss</a:t>
            </a:r>
            <a:endParaRPr lang="en-US" sz="3500" b="1" dirty="0"/>
          </a:p>
        </p:txBody>
      </p:sp>
      <p:sp>
        <p:nvSpPr>
          <p:cNvPr id="3" name="Content Placeholder 2"/>
          <p:cNvSpPr>
            <a:spLocks noGrp="1"/>
          </p:cNvSpPr>
          <p:nvPr>
            <p:ph idx="1"/>
          </p:nvPr>
        </p:nvSpPr>
        <p:spPr>
          <a:xfrm>
            <a:off x="838200" y="1214846"/>
            <a:ext cx="10515600" cy="4962117"/>
          </a:xfrm>
        </p:spPr>
        <p:txBody>
          <a:bodyPr>
            <a:normAutofit/>
          </a:bodyPr>
          <a:lstStyle/>
          <a:p>
            <a:r>
              <a:rPr lang="en-US" sz="2500" dirty="0"/>
              <a:t>It gives the probability value between 0 and 1 for a classification task. Cross-Entropy calculates the average difference between the predicted and actual probabilities</a:t>
            </a:r>
            <a:r>
              <a:rPr lang="en-US" sz="2500" dirty="0" smtClean="0"/>
              <a:t>.</a:t>
            </a:r>
          </a:p>
          <a:p>
            <a:endParaRPr lang="en-US" sz="2500" dirty="0"/>
          </a:p>
          <a:p>
            <a:endParaRPr lang="en-US" sz="2500" dirty="0" smtClean="0"/>
          </a:p>
          <a:p>
            <a:endParaRPr lang="en-US" sz="2500" dirty="0" smtClean="0"/>
          </a:p>
          <a:p>
            <a:pPr marL="0" indent="0">
              <a:buNone/>
            </a:pPr>
            <a:r>
              <a:rPr lang="en-US" sz="2000" b="1" dirty="0" smtClean="0"/>
              <a:t>Advantage</a:t>
            </a:r>
            <a:endParaRPr lang="en-US" sz="2000" dirty="0"/>
          </a:p>
          <a:p>
            <a:r>
              <a:rPr lang="en-US" sz="2000" dirty="0" smtClean="0"/>
              <a:t> </a:t>
            </a:r>
            <a:r>
              <a:rPr lang="en-US" sz="2000" dirty="0"/>
              <a:t>A cost function is a differential.</a:t>
            </a:r>
          </a:p>
          <a:p>
            <a:pPr marL="0" indent="0">
              <a:buNone/>
            </a:pPr>
            <a:r>
              <a:rPr lang="en-US" sz="2000" b="1" dirty="0"/>
              <a:t>Disadvantage </a:t>
            </a:r>
            <a:endParaRPr lang="en-US" sz="2000" dirty="0"/>
          </a:p>
          <a:p>
            <a:r>
              <a:rPr lang="en-US" sz="2000" dirty="0" smtClean="0"/>
              <a:t>Multiple </a:t>
            </a:r>
            <a:r>
              <a:rPr lang="en-US" sz="2000" dirty="0"/>
              <a:t>local minima</a:t>
            </a:r>
          </a:p>
          <a:p>
            <a:r>
              <a:rPr lang="en-US" sz="2000" dirty="0" smtClean="0"/>
              <a:t>Not </a:t>
            </a:r>
            <a:r>
              <a:rPr lang="en-US" sz="2000" dirty="0"/>
              <a:t>intuitive</a:t>
            </a:r>
          </a:p>
          <a:p>
            <a:pPr marL="0" indent="0">
              <a:buNone/>
            </a:pPr>
            <a:endParaRPr lang="en-US" sz="2500" dirty="0"/>
          </a:p>
          <a:p>
            <a:pPr marL="0" indent="0">
              <a:buNone/>
            </a:pPr>
            <a:endParaRPr lang="en-US" sz="25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43924" y="2334112"/>
            <a:ext cx="7566728" cy="1373515"/>
          </a:xfrm>
          <a:prstGeom prst="rect">
            <a:avLst/>
          </a:prstGeom>
        </p:spPr>
      </p:pic>
    </p:spTree>
    <p:extLst>
      <p:ext uri="{BB962C8B-B14F-4D97-AF65-F5344CB8AC3E}">
        <p14:creationId xmlns:p14="http://schemas.microsoft.com/office/powerpoint/2010/main" val="17451908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88464"/>
          </a:xfrm>
        </p:spPr>
        <p:txBody>
          <a:bodyPr>
            <a:normAutofit fontScale="90000"/>
          </a:bodyPr>
          <a:lstStyle/>
          <a:p>
            <a:r>
              <a:rPr lang="en-US" b="1" dirty="0" smtClean="0"/>
              <a:t>ii)</a:t>
            </a:r>
            <a:r>
              <a:rPr lang="en-US" b="1" dirty="0" smtClean="0"/>
              <a:t> Hinge loss</a:t>
            </a:r>
            <a:endParaRPr lang="en-US" b="1" dirty="0"/>
          </a:p>
        </p:txBody>
      </p:sp>
      <p:sp>
        <p:nvSpPr>
          <p:cNvPr id="3" name="Content Placeholder 2"/>
          <p:cNvSpPr>
            <a:spLocks noGrp="1"/>
          </p:cNvSpPr>
          <p:nvPr>
            <p:ph idx="1"/>
          </p:nvPr>
        </p:nvSpPr>
        <p:spPr>
          <a:xfrm>
            <a:off x="838200" y="1162594"/>
            <a:ext cx="10515600" cy="5014369"/>
          </a:xfrm>
        </p:spPr>
        <p:txBody>
          <a:bodyPr>
            <a:normAutofit/>
          </a:bodyPr>
          <a:lstStyle/>
          <a:p>
            <a:r>
              <a:rPr lang="en-US" sz="2500" dirty="0"/>
              <a:t>This type of loss is used when the target variable has 1 or -1 as class labels. It penalizes the model when there is a difference in the sign between the actual and predicted class values</a:t>
            </a:r>
            <a:r>
              <a:rPr lang="en-US" sz="2500" dirty="0" smtClean="0"/>
              <a:t>.</a:t>
            </a:r>
          </a:p>
          <a:p>
            <a:r>
              <a:rPr lang="en-US" sz="2500" dirty="0"/>
              <a:t>These are particularly used in SVM models</a:t>
            </a:r>
            <a:r>
              <a:rPr lang="en-US" sz="2500" dirty="0" smtClean="0"/>
              <a:t>.</a:t>
            </a:r>
          </a:p>
          <a:p>
            <a:endParaRPr lang="en-US" sz="2500" dirty="0"/>
          </a:p>
          <a:p>
            <a:pPr marL="0" indent="0">
              <a:buNone/>
            </a:pPr>
            <a:endParaRPr lang="en-US" sz="25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30177" y="2895667"/>
            <a:ext cx="3629162" cy="870654"/>
          </a:xfrm>
          <a:prstGeom prst="rect">
            <a:avLst/>
          </a:prstGeom>
        </p:spPr>
      </p:pic>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82577" y="3048067"/>
            <a:ext cx="3629162" cy="870654"/>
          </a:xfrm>
          <a:prstGeom prst="rect">
            <a:avLst/>
          </a:prstGeom>
        </p:spPr>
      </p:pic>
    </p:spTree>
    <p:extLst>
      <p:ext uri="{BB962C8B-B14F-4D97-AF65-F5344CB8AC3E}">
        <p14:creationId xmlns:p14="http://schemas.microsoft.com/office/powerpoint/2010/main" val="41056914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88909"/>
          </a:xfrm>
        </p:spPr>
        <p:txBody>
          <a:bodyPr>
            <a:normAutofit/>
          </a:bodyPr>
          <a:lstStyle/>
          <a:p>
            <a:r>
              <a:rPr lang="en-US" sz="3500" b="1" dirty="0" smtClean="0"/>
              <a:t>3)</a:t>
            </a:r>
            <a:r>
              <a:rPr lang="en-US" sz="3500" b="1" dirty="0"/>
              <a:t> Multi-Class Classification Loss </a:t>
            </a:r>
            <a:r>
              <a:rPr lang="en-US" sz="3500" b="1" dirty="0" smtClean="0"/>
              <a:t>Function</a:t>
            </a:r>
            <a:endParaRPr lang="en-US" sz="3500" b="1" dirty="0"/>
          </a:p>
        </p:txBody>
      </p:sp>
      <p:sp>
        <p:nvSpPr>
          <p:cNvPr id="3" name="Content Placeholder 2"/>
          <p:cNvSpPr>
            <a:spLocks noGrp="1"/>
          </p:cNvSpPr>
          <p:nvPr>
            <p:ph idx="1"/>
          </p:nvPr>
        </p:nvSpPr>
        <p:spPr>
          <a:xfrm>
            <a:off x="838200" y="1254034"/>
            <a:ext cx="10515600" cy="4922929"/>
          </a:xfrm>
        </p:spPr>
        <p:txBody>
          <a:bodyPr>
            <a:normAutofit/>
          </a:bodyPr>
          <a:lstStyle/>
          <a:p>
            <a:r>
              <a:rPr lang="en-US" sz="2500" dirty="0"/>
              <a:t>If we take a dataset like Iris where we need to predict the three-class labels: </a:t>
            </a:r>
            <a:r>
              <a:rPr lang="en-US" sz="2500" dirty="0" err="1"/>
              <a:t>Setosa</a:t>
            </a:r>
            <a:r>
              <a:rPr lang="en-US" sz="2500" dirty="0"/>
              <a:t>, Versicolor and Virginia, in such cases where the target variable has more than two classes Multi-Class Classification Loss function is used</a:t>
            </a:r>
            <a:r>
              <a:rPr lang="en-US" sz="2500" dirty="0" smtClean="0"/>
              <a:t>.</a:t>
            </a:r>
          </a:p>
          <a:p>
            <a:endParaRPr lang="en-US" sz="2500" dirty="0"/>
          </a:p>
          <a:p>
            <a:pPr marL="0" indent="0">
              <a:buNone/>
            </a:pPr>
            <a:r>
              <a:rPr lang="en-US" sz="2500" dirty="0" smtClean="0"/>
              <a:t>	</a:t>
            </a:r>
            <a:r>
              <a:rPr lang="en-US" sz="2500" dirty="0" err="1" smtClean="0"/>
              <a:t>i</a:t>
            </a:r>
            <a:r>
              <a:rPr lang="en-US" sz="2500" dirty="0" smtClean="0"/>
              <a:t>)</a:t>
            </a:r>
            <a:r>
              <a:rPr lang="en-US" sz="2500" dirty="0"/>
              <a:t> </a:t>
            </a:r>
            <a:r>
              <a:rPr lang="en-US" sz="2500" dirty="0" smtClean="0"/>
              <a:t>Categorical </a:t>
            </a:r>
            <a:r>
              <a:rPr lang="en-US" sz="2500" dirty="0"/>
              <a:t>Cross Entropy </a:t>
            </a:r>
            <a:r>
              <a:rPr lang="en-US" sz="2500" dirty="0" smtClean="0"/>
              <a:t>Loss</a:t>
            </a:r>
          </a:p>
          <a:p>
            <a:pPr marL="0" indent="0">
              <a:buNone/>
            </a:pPr>
            <a:r>
              <a:rPr lang="en-US" sz="2500" dirty="0"/>
              <a:t>	</a:t>
            </a:r>
            <a:r>
              <a:rPr lang="en-US" sz="2500" dirty="0" smtClean="0"/>
              <a:t>ii)</a:t>
            </a:r>
            <a:r>
              <a:rPr lang="en-US" sz="2500" dirty="0"/>
              <a:t> </a:t>
            </a:r>
            <a:r>
              <a:rPr lang="en-US" sz="2500" dirty="0" smtClean="0"/>
              <a:t>Sparse </a:t>
            </a:r>
            <a:r>
              <a:rPr lang="en-US" sz="2500" dirty="0"/>
              <a:t>categorical cross-entropy</a:t>
            </a:r>
            <a:r>
              <a:rPr lang="en-US" sz="2500" dirty="0" smtClean="0"/>
              <a:t>	</a:t>
            </a:r>
          </a:p>
          <a:p>
            <a:pPr marL="457200" lvl="1" indent="0">
              <a:buNone/>
            </a:pPr>
            <a:r>
              <a:rPr lang="en-US" sz="2500" dirty="0"/>
              <a:t>	</a:t>
            </a:r>
            <a:r>
              <a:rPr lang="en-US" sz="2500" dirty="0" smtClean="0"/>
              <a:t>iii)</a:t>
            </a:r>
            <a:r>
              <a:rPr lang="en-US" sz="2500" dirty="0"/>
              <a:t> </a:t>
            </a:r>
            <a:r>
              <a:rPr lang="en-US" sz="2500" dirty="0" err="1" smtClean="0"/>
              <a:t>Kullback</a:t>
            </a:r>
            <a:r>
              <a:rPr lang="en-US" sz="2500" dirty="0" smtClean="0"/>
              <a:t> </a:t>
            </a:r>
            <a:r>
              <a:rPr lang="en-US" sz="2500" dirty="0" err="1"/>
              <a:t>Leibler</a:t>
            </a:r>
            <a:r>
              <a:rPr lang="en-US" sz="2500" dirty="0"/>
              <a:t> Divergence </a:t>
            </a:r>
            <a:r>
              <a:rPr lang="en-US" sz="2500" dirty="0" smtClean="0"/>
              <a:t>Loss</a:t>
            </a:r>
          </a:p>
          <a:p>
            <a:pPr marL="457200" lvl="1" indent="0">
              <a:buNone/>
            </a:pPr>
            <a:r>
              <a:rPr lang="en-US" sz="2400" dirty="0"/>
              <a:t>	</a:t>
            </a:r>
            <a:r>
              <a:rPr lang="en-US" sz="2400" dirty="0" smtClean="0"/>
              <a:t/>
            </a:r>
            <a:br>
              <a:rPr lang="en-US" sz="2400" dirty="0" smtClean="0"/>
            </a:br>
            <a:endParaRPr lang="en-US" sz="2500" dirty="0"/>
          </a:p>
        </p:txBody>
      </p:sp>
    </p:spTree>
    <p:extLst>
      <p:ext uri="{BB962C8B-B14F-4D97-AF65-F5344CB8AC3E}">
        <p14:creationId xmlns:p14="http://schemas.microsoft.com/office/powerpoint/2010/main" val="6246309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45218"/>
          </a:xfrm>
        </p:spPr>
        <p:txBody>
          <a:bodyPr>
            <a:normAutofit/>
          </a:bodyPr>
          <a:lstStyle/>
          <a:p>
            <a:pPr marL="0" indent="0"/>
            <a:r>
              <a:rPr lang="en-US" sz="3500" b="1" dirty="0" err="1"/>
              <a:t>i</a:t>
            </a:r>
            <a:r>
              <a:rPr lang="en-US" sz="3500" b="1" dirty="0"/>
              <a:t>) Categorical Cross Entropy Loss</a:t>
            </a:r>
          </a:p>
        </p:txBody>
      </p:sp>
      <p:sp>
        <p:nvSpPr>
          <p:cNvPr id="3" name="Content Placeholder 2"/>
          <p:cNvSpPr>
            <a:spLocks noGrp="1"/>
          </p:cNvSpPr>
          <p:nvPr>
            <p:ph idx="1"/>
          </p:nvPr>
        </p:nvSpPr>
        <p:spPr>
          <a:xfrm>
            <a:off x="838200" y="1214846"/>
            <a:ext cx="10515600" cy="5185954"/>
          </a:xfrm>
        </p:spPr>
        <p:txBody>
          <a:bodyPr>
            <a:normAutofit/>
          </a:bodyPr>
          <a:lstStyle/>
          <a:p>
            <a:r>
              <a:rPr lang="en-US" sz="2500" dirty="0"/>
              <a:t>Categorical Cross entropy is used for Multiclass classification.</a:t>
            </a:r>
          </a:p>
          <a:p>
            <a:r>
              <a:rPr lang="en-US" sz="2500" dirty="0"/>
              <a:t>Categorical Cross entropy is also used in </a:t>
            </a:r>
            <a:r>
              <a:rPr lang="en-US" sz="2500" dirty="0" err="1"/>
              <a:t>softmax</a:t>
            </a:r>
            <a:r>
              <a:rPr lang="en-US" sz="2500" dirty="0"/>
              <a:t> regression</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06531" y="2359526"/>
            <a:ext cx="5070372" cy="1326323"/>
          </a:xfrm>
          <a:prstGeom prst="rect">
            <a:avLst/>
          </a:prstGeom>
        </p:spPr>
      </p:pic>
    </p:spTree>
    <p:extLst>
      <p:ext uri="{BB962C8B-B14F-4D97-AF65-F5344CB8AC3E}">
        <p14:creationId xmlns:p14="http://schemas.microsoft.com/office/powerpoint/2010/main" val="30784630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ii)</a:t>
            </a:r>
            <a:r>
              <a:rPr lang="en-US" b="1" dirty="0" smtClean="0"/>
              <a:t> sparse categorical cross-entropy</a:t>
            </a:r>
            <a:endParaRPr lang="en-US" b="1" dirty="0"/>
          </a:p>
        </p:txBody>
      </p:sp>
      <p:sp>
        <p:nvSpPr>
          <p:cNvPr id="3" name="Content Placeholder 2"/>
          <p:cNvSpPr>
            <a:spLocks noGrp="1"/>
          </p:cNvSpPr>
          <p:nvPr>
            <p:ph idx="1"/>
          </p:nvPr>
        </p:nvSpPr>
        <p:spPr/>
        <p:txBody>
          <a:bodyPr/>
          <a:lstStyle/>
          <a:p>
            <a:pPr marL="0" indent="0">
              <a:buNone/>
            </a:pPr>
            <a:r>
              <a:rPr lang="en-US" sz="2500" b="1" dirty="0"/>
              <a:t>When to use categorical cross-entropy and sparse categorical cross-entropy?</a:t>
            </a:r>
            <a:endParaRPr lang="en-US" sz="2500" dirty="0"/>
          </a:p>
          <a:p>
            <a:r>
              <a:rPr lang="en-US" sz="2500" dirty="0"/>
              <a:t>If target column has One hot encode to classes like 0 0 1, 0 1 0, 1 0 0 then use categorical cross-entropy. and if the target column has Numerical encoding to classes like 1,2,3,4….n then use sparse categorical cross-entropy</a:t>
            </a:r>
            <a:r>
              <a:rPr lang="en-US" sz="2500" dirty="0" smtClean="0"/>
              <a:t>.</a:t>
            </a:r>
          </a:p>
          <a:p>
            <a:pPr marL="0" indent="0">
              <a:buNone/>
            </a:pPr>
            <a:endParaRPr lang="en-US" sz="2500" dirty="0"/>
          </a:p>
          <a:p>
            <a:pPr marL="0" indent="0">
              <a:buNone/>
            </a:pPr>
            <a:r>
              <a:rPr lang="en-US" sz="2500" b="1" dirty="0"/>
              <a:t>Which is Faster?</a:t>
            </a:r>
            <a:endParaRPr lang="en-US" sz="2500" dirty="0"/>
          </a:p>
          <a:p>
            <a:r>
              <a:rPr lang="en-US" sz="2500" dirty="0"/>
              <a:t>sparse categorical cross-entropy faster than categorical cross-entropy.</a:t>
            </a:r>
          </a:p>
          <a:p>
            <a:endParaRPr lang="en-US" dirty="0"/>
          </a:p>
        </p:txBody>
      </p:sp>
    </p:spTree>
    <p:extLst>
      <p:ext uri="{BB962C8B-B14F-4D97-AF65-F5344CB8AC3E}">
        <p14:creationId xmlns:p14="http://schemas.microsoft.com/office/powerpoint/2010/main" val="33708572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71344"/>
          </a:xfrm>
        </p:spPr>
        <p:txBody>
          <a:bodyPr>
            <a:normAutofit/>
          </a:bodyPr>
          <a:lstStyle/>
          <a:p>
            <a:r>
              <a:rPr lang="en-US" sz="3500" b="1" dirty="0" smtClean="0"/>
              <a:t>iii)</a:t>
            </a:r>
            <a:r>
              <a:rPr lang="en-US" sz="3500" b="1" dirty="0" err="1" smtClean="0"/>
              <a:t>Kullback</a:t>
            </a:r>
            <a:r>
              <a:rPr lang="en-US" sz="3500" b="1" dirty="0" smtClean="0"/>
              <a:t> </a:t>
            </a:r>
            <a:r>
              <a:rPr lang="en-US" sz="3500" b="1" dirty="0" err="1"/>
              <a:t>Leibler</a:t>
            </a:r>
            <a:r>
              <a:rPr lang="en-US" sz="3500" b="1" dirty="0"/>
              <a:t> Divergence </a:t>
            </a:r>
            <a:r>
              <a:rPr lang="en-US" sz="3500" b="1" dirty="0" smtClean="0"/>
              <a:t>Loss</a:t>
            </a:r>
            <a:endParaRPr lang="en-US" sz="3500" b="1" dirty="0"/>
          </a:p>
        </p:txBody>
      </p:sp>
      <p:sp>
        <p:nvSpPr>
          <p:cNvPr id="3" name="Content Placeholder 2"/>
          <p:cNvSpPr>
            <a:spLocks noGrp="1"/>
          </p:cNvSpPr>
          <p:nvPr>
            <p:ph idx="1"/>
          </p:nvPr>
        </p:nvSpPr>
        <p:spPr>
          <a:xfrm>
            <a:off x="838200" y="1136470"/>
            <a:ext cx="10515600" cy="5040493"/>
          </a:xfrm>
        </p:spPr>
        <p:txBody>
          <a:bodyPr>
            <a:normAutofit/>
          </a:bodyPr>
          <a:lstStyle/>
          <a:p>
            <a:r>
              <a:rPr lang="en-US" sz="2300" dirty="0" err="1"/>
              <a:t>Kullback</a:t>
            </a:r>
            <a:r>
              <a:rPr lang="en-US" sz="2300" dirty="0"/>
              <a:t> </a:t>
            </a:r>
            <a:r>
              <a:rPr lang="en-US" sz="2300" dirty="0" err="1"/>
              <a:t>Leibler</a:t>
            </a:r>
            <a:r>
              <a:rPr lang="en-US" sz="2300" dirty="0"/>
              <a:t> Divergence Loss calculates how much a given distribution is away from the true distribution. These are used to carry out complex operations like </a:t>
            </a:r>
            <a:r>
              <a:rPr lang="en-US" sz="2300" dirty="0" err="1"/>
              <a:t>autoencoder</a:t>
            </a:r>
            <a:r>
              <a:rPr lang="en-US" sz="2300" dirty="0"/>
              <a:t> where there is a need to learn the dense feature representation</a:t>
            </a:r>
            <a:r>
              <a:rPr lang="en-US" sz="2300" dirty="0" smtClean="0"/>
              <a:t>.</a:t>
            </a:r>
          </a:p>
          <a:p>
            <a:r>
              <a:rPr lang="en-US" sz="2300" i="1" dirty="0"/>
              <a:t>KL-Divergence is used more commonly to approximate complex functions than in multi-class classification. We come across KL-Divergence frequently while playing with deep-generative models like </a:t>
            </a:r>
            <a:r>
              <a:rPr lang="en-US" sz="2300" i="1" dirty="0" err="1"/>
              <a:t>Variational</a:t>
            </a:r>
            <a:r>
              <a:rPr lang="en-US" sz="2300" i="1" dirty="0"/>
              <a:t> </a:t>
            </a:r>
            <a:r>
              <a:rPr lang="en-US" sz="2300" i="1" dirty="0" err="1"/>
              <a:t>Autoencoders</a:t>
            </a:r>
            <a:r>
              <a:rPr lang="en-US" sz="2300" i="1" dirty="0"/>
              <a:t> (VAEs).</a:t>
            </a:r>
            <a:endParaRPr lang="en-US" sz="2300" dirty="0"/>
          </a:p>
          <a:p>
            <a:pPr marL="0" indent="0">
              <a:buNone/>
            </a:pPr>
            <a:endParaRPr lang="en-US" dirty="0" smtClean="0"/>
          </a:p>
          <a:p>
            <a:pPr marL="0" indent="0">
              <a:buNone/>
            </a:pPr>
            <a:endParaRPr lang="en-US" dirty="0"/>
          </a:p>
          <a:p>
            <a:pPr marL="0" indent="0">
              <a:buNone/>
            </a:pPr>
            <a:endParaRPr lang="en-US" dirty="0" smtClean="0"/>
          </a:p>
          <a:p>
            <a:pPr marL="0" indent="0">
              <a:buNone/>
            </a:pPr>
            <a:endParaRPr lang="en-US" dirty="0"/>
          </a:p>
          <a:p>
            <a:pPr marL="0" indent="0">
              <a:buNone/>
            </a:pPr>
            <a:endParaRPr lang="en-US" dirty="0" smtClean="0"/>
          </a:p>
          <a:p>
            <a:pPr marL="0" indent="0">
              <a:buNone/>
            </a:pPr>
            <a:endParaRPr lang="en-US" dirty="0" smtClean="0"/>
          </a:p>
          <a:p>
            <a:pPr marL="0" indent="0">
              <a:buNone/>
            </a:pP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54383" y="3317082"/>
            <a:ext cx="5943600" cy="2626518"/>
          </a:xfrm>
          <a:prstGeom prst="rect">
            <a:avLst/>
          </a:prstGeom>
        </p:spPr>
      </p:pic>
    </p:spTree>
    <p:extLst>
      <p:ext uri="{BB962C8B-B14F-4D97-AF65-F5344CB8AC3E}">
        <p14:creationId xmlns:p14="http://schemas.microsoft.com/office/powerpoint/2010/main" val="7431934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54</TotalTime>
  <Words>820</Words>
  <Application>Microsoft Office PowerPoint</Application>
  <PresentationFormat>Widescreen</PresentationFormat>
  <Paragraphs>91</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Calibri Light</vt:lpstr>
      <vt:lpstr>Times New Roman</vt:lpstr>
      <vt:lpstr>Office Theme</vt:lpstr>
      <vt:lpstr>Loss functions in Deep learning</vt:lpstr>
      <vt:lpstr>1) Regression Loss Function</vt:lpstr>
      <vt:lpstr>i) Mean Absolute Error/ L1 loss</vt:lpstr>
      <vt:lpstr>ii) Mean Squared Error/Squared loss/ L2 loss  </vt:lpstr>
      <vt:lpstr>iii) Huber Loss</vt:lpstr>
      <vt:lpstr>PowerPoint Presentation</vt:lpstr>
      <vt:lpstr>2)Binary Classification Loss Function</vt:lpstr>
      <vt:lpstr>i) Binary Cross Entropy / log loss</vt:lpstr>
      <vt:lpstr>ii) Hinge loss</vt:lpstr>
      <vt:lpstr>3) Multi-Class Classification Loss Function</vt:lpstr>
      <vt:lpstr>i) Categorical Cross Entropy Loss</vt:lpstr>
      <vt:lpstr>ii) sparse categorical cross-entropy</vt:lpstr>
      <vt:lpstr>iii)Kullback Leibler Divergence Loss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Loss functions in Deep learning</dc:title>
  <dc:creator>Ajith</dc:creator>
  <cp:lastModifiedBy>Ajith</cp:lastModifiedBy>
  <cp:revision>42</cp:revision>
  <dcterms:created xsi:type="dcterms:W3CDTF">2022-09-20T17:27:29Z</dcterms:created>
  <dcterms:modified xsi:type="dcterms:W3CDTF">2022-09-20T18:22:10Z</dcterms:modified>
</cp:coreProperties>
</file>