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470480B-2647-4A60-BB3D-3C0C384BE470}"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609785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70480B-2647-4A60-BB3D-3C0C384BE470}"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3766373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470480B-2647-4A60-BB3D-3C0C384BE470}"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526465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470480B-2647-4A60-BB3D-3C0C384BE470}"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2214127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470480B-2647-4A60-BB3D-3C0C384BE470}" type="datetimeFigureOut">
              <a:rPr lang="en-US" smtClean="0"/>
              <a:t>9/21/2022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656239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470480B-2647-4A60-BB3D-3C0C384BE470}" type="datetimeFigureOut">
              <a:rPr lang="en-US" smtClean="0"/>
              <a:t>9/21/2022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3403118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70480B-2647-4A60-BB3D-3C0C384BE470}" type="datetimeFigureOut">
              <a:rPr lang="en-US" smtClean="0"/>
              <a:t>9/21/2022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1562552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70480B-2647-4A60-BB3D-3C0C384BE470}"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3400406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70480B-2647-4A60-BB3D-3C0C384BE470}"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3508040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70480B-2647-4A60-BB3D-3C0C384BE470}"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1133532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70480B-2647-4A60-BB3D-3C0C384BE470}"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715315-93FB-45F1-8B26-546A300F89B7}" type="slidenum">
              <a:rPr lang="en-US" smtClean="0"/>
              <a:t>‹#›</a:t>
            </a:fld>
            <a:endParaRPr lang="en-US"/>
          </a:p>
        </p:txBody>
      </p:sp>
    </p:spTree>
    <p:extLst>
      <p:ext uri="{BB962C8B-B14F-4D97-AF65-F5344CB8AC3E}">
        <p14:creationId xmlns:p14="http://schemas.microsoft.com/office/powerpoint/2010/main" val="48796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70480B-2647-4A60-BB3D-3C0C384BE470}" type="datetimeFigureOut">
              <a:rPr lang="en-US" smtClean="0"/>
              <a:t>9/21/2022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715315-93FB-45F1-8B26-546A300F89B7}" type="slidenum">
              <a:rPr lang="en-US" smtClean="0"/>
              <a:t>‹#›</a:t>
            </a:fld>
            <a:endParaRPr lang="en-US"/>
          </a:p>
        </p:txBody>
      </p:sp>
    </p:spTree>
    <p:extLst>
      <p:ext uri="{BB962C8B-B14F-4D97-AF65-F5344CB8AC3E}">
        <p14:creationId xmlns:p14="http://schemas.microsoft.com/office/powerpoint/2010/main" val="925733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projectpro.io/article/deep-learning-algorithms/443"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13164" y="360363"/>
            <a:ext cx="9144000" cy="470910"/>
          </a:xfrm>
        </p:spPr>
        <p:txBody>
          <a:bodyPr>
            <a:noAutofit/>
          </a:bodyPr>
          <a:lstStyle/>
          <a:p>
            <a:r>
              <a:rPr lang="en-US" sz="3500" b="1" dirty="0" smtClean="0"/>
              <a:t>METRICS</a:t>
            </a:r>
            <a:endParaRPr lang="en-US" sz="3500" b="1" dirty="0"/>
          </a:p>
        </p:txBody>
      </p:sp>
      <p:sp>
        <p:nvSpPr>
          <p:cNvPr id="3" name="Subtitle 2"/>
          <p:cNvSpPr>
            <a:spLocks noGrp="1"/>
          </p:cNvSpPr>
          <p:nvPr>
            <p:ph type="subTitle" idx="1"/>
          </p:nvPr>
        </p:nvSpPr>
        <p:spPr>
          <a:xfrm>
            <a:off x="1524000" y="1011383"/>
            <a:ext cx="9144000" cy="5306290"/>
          </a:xfrm>
        </p:spPr>
        <p:txBody>
          <a:bodyPr/>
          <a:lstStyle/>
          <a:p>
            <a:pPr algn="l"/>
            <a:r>
              <a:rPr lang="en-US" dirty="0" smtClean="0"/>
              <a:t/>
            </a:r>
            <a:br>
              <a:rPr lang="en-US" dirty="0" smtClean="0"/>
            </a:br>
            <a:r>
              <a:rPr lang="en-US" dirty="0"/>
              <a:t>Metrics help in evaluating </a:t>
            </a:r>
            <a:r>
              <a:rPr lang="en-US" dirty="0">
                <a:hlinkClick r:id="rId2" tooltip="deep learning models"/>
              </a:rPr>
              <a:t>deep learning models</a:t>
            </a:r>
            <a:r>
              <a:rPr lang="en-US" dirty="0"/>
              <a:t>. Metrics are used to monitor and measure the performance of model. Metrics are not differentiable but in some cases is differentiable as can be used both as loss function(Regularization added) and a metric. Metrics involve many categories like Classification metrics, Regression metrics, Ranking metrics, statistical metrics, Computer vision metrics, Natural language processing metrics, Deep learning metrics etc.</a:t>
            </a:r>
          </a:p>
        </p:txBody>
      </p:sp>
    </p:spTree>
    <p:extLst>
      <p:ext uri="{BB962C8B-B14F-4D97-AF65-F5344CB8AC3E}">
        <p14:creationId xmlns:p14="http://schemas.microsoft.com/office/powerpoint/2010/main" val="272616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5420"/>
          </a:xfrm>
        </p:spPr>
        <p:txBody>
          <a:bodyPr>
            <a:normAutofit fontScale="90000"/>
          </a:bodyPr>
          <a:lstStyle/>
          <a:p>
            <a:pPr fontAlgn="base"/>
            <a:r>
              <a:rPr lang="en-US" b="1" dirty="0"/>
              <a:t> </a:t>
            </a:r>
            <a:r>
              <a:rPr lang="en-US" b="1" dirty="0" smtClean="0"/>
              <a:t>1)Regression </a:t>
            </a:r>
            <a:r>
              <a:rPr lang="en-US" b="1" dirty="0"/>
              <a:t>Metrics</a:t>
            </a:r>
          </a:p>
        </p:txBody>
      </p:sp>
      <p:sp>
        <p:nvSpPr>
          <p:cNvPr id="3" name="Content Placeholder 2"/>
          <p:cNvSpPr>
            <a:spLocks noGrp="1"/>
          </p:cNvSpPr>
          <p:nvPr>
            <p:ph idx="1"/>
          </p:nvPr>
        </p:nvSpPr>
        <p:spPr>
          <a:xfrm>
            <a:off x="838200" y="1330035"/>
            <a:ext cx="10515600" cy="4846927"/>
          </a:xfrm>
        </p:spPr>
        <p:txBody>
          <a:bodyPr/>
          <a:lstStyle/>
          <a:p>
            <a:pPr marL="0" indent="0">
              <a:buNone/>
            </a:pPr>
            <a:r>
              <a:rPr lang="en-US" dirty="0"/>
              <a:t>These metrics are used when predicting numerical values such as sales and prices of houses.</a:t>
            </a:r>
            <a:endParaRPr lang="en-US" dirty="0" smtClean="0"/>
          </a:p>
          <a:p>
            <a:pPr marL="0" indent="0">
              <a:buNone/>
            </a:pPr>
            <a:endParaRPr lang="en-US" dirty="0" smtClean="0"/>
          </a:p>
          <a:p>
            <a:pPr fontAlgn="base"/>
            <a:r>
              <a:rPr lang="en-US" b="1" dirty="0" smtClean="0"/>
              <a:t>Mean </a:t>
            </a:r>
            <a:r>
              <a:rPr lang="en-US" b="1" dirty="0"/>
              <a:t>Squared Error</a:t>
            </a:r>
            <a:r>
              <a:rPr lang="en-US" dirty="0"/>
              <a:t>: </a:t>
            </a:r>
            <a:r>
              <a:rPr lang="en-US" dirty="0" err="1"/>
              <a:t>mean_squared_error</a:t>
            </a:r>
            <a:r>
              <a:rPr lang="en-US" dirty="0"/>
              <a:t>, MSE or </a:t>
            </a:r>
            <a:r>
              <a:rPr lang="en-US" dirty="0" err="1"/>
              <a:t>mse</a:t>
            </a:r>
            <a:endParaRPr lang="en-US" dirty="0"/>
          </a:p>
          <a:p>
            <a:pPr fontAlgn="base"/>
            <a:r>
              <a:rPr lang="en-US" b="1" dirty="0"/>
              <a:t>Mean Absolute Error</a:t>
            </a:r>
            <a:r>
              <a:rPr lang="en-US" dirty="0"/>
              <a:t>: </a:t>
            </a:r>
            <a:r>
              <a:rPr lang="en-US" dirty="0" err="1"/>
              <a:t>mean_absolute_error</a:t>
            </a:r>
            <a:r>
              <a:rPr lang="en-US" dirty="0"/>
              <a:t>, MAE, </a:t>
            </a:r>
            <a:r>
              <a:rPr lang="en-US" dirty="0" err="1"/>
              <a:t>mae</a:t>
            </a:r>
            <a:endParaRPr lang="en-US" dirty="0"/>
          </a:p>
          <a:p>
            <a:pPr fontAlgn="base"/>
            <a:r>
              <a:rPr lang="en-US" b="1" dirty="0"/>
              <a:t>Mean Absolute Percentage Error</a:t>
            </a:r>
            <a:r>
              <a:rPr lang="en-US" dirty="0"/>
              <a:t>: </a:t>
            </a:r>
            <a:r>
              <a:rPr lang="en-US" dirty="0" err="1"/>
              <a:t>mean_absolute_percentage_error</a:t>
            </a:r>
            <a:r>
              <a:rPr lang="en-US" dirty="0"/>
              <a:t>, MAPE, </a:t>
            </a:r>
            <a:r>
              <a:rPr lang="en-US" dirty="0" err="1"/>
              <a:t>mape</a:t>
            </a:r>
            <a:endParaRPr lang="en-US" dirty="0"/>
          </a:p>
          <a:p>
            <a:pPr fontAlgn="base"/>
            <a:r>
              <a:rPr lang="en-US" b="1" dirty="0"/>
              <a:t>Cosine Proximity</a:t>
            </a:r>
            <a:r>
              <a:rPr lang="en-US" dirty="0"/>
              <a:t>: </a:t>
            </a:r>
            <a:r>
              <a:rPr lang="en-US" dirty="0" err="1"/>
              <a:t>cosine_proximity</a:t>
            </a:r>
            <a:r>
              <a:rPr lang="en-US" dirty="0"/>
              <a:t>, cosine</a:t>
            </a:r>
          </a:p>
          <a:p>
            <a:pPr marL="0" indent="0">
              <a:buNone/>
            </a:pPr>
            <a:endParaRPr lang="en-US" dirty="0"/>
          </a:p>
        </p:txBody>
      </p:sp>
    </p:spTree>
    <p:extLst>
      <p:ext uri="{BB962C8B-B14F-4D97-AF65-F5344CB8AC3E}">
        <p14:creationId xmlns:p14="http://schemas.microsoft.com/office/powerpoint/2010/main" val="2502651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966"/>
          </a:xfrm>
        </p:spPr>
        <p:txBody>
          <a:bodyPr>
            <a:normAutofit fontScale="90000"/>
          </a:bodyPr>
          <a:lstStyle/>
          <a:p>
            <a:r>
              <a:rPr lang="en-US" b="1" dirty="0" smtClean="0"/>
              <a:t>2)</a:t>
            </a:r>
            <a:r>
              <a:rPr lang="en-US" b="1" dirty="0"/>
              <a:t> Binary </a:t>
            </a:r>
            <a:r>
              <a:rPr lang="en-US" b="1" dirty="0" smtClean="0"/>
              <a:t>classification metrics</a:t>
            </a:r>
            <a:endParaRPr lang="en-US" b="1" dirty="0"/>
          </a:p>
        </p:txBody>
      </p:sp>
      <p:sp>
        <p:nvSpPr>
          <p:cNvPr id="3" name="Content Placeholder 2"/>
          <p:cNvSpPr>
            <a:spLocks noGrp="1"/>
          </p:cNvSpPr>
          <p:nvPr>
            <p:ph idx="1"/>
          </p:nvPr>
        </p:nvSpPr>
        <p:spPr>
          <a:xfrm>
            <a:off x="838200" y="1330036"/>
            <a:ext cx="10515600" cy="4846927"/>
          </a:xfrm>
        </p:spPr>
        <p:txBody>
          <a:bodyPr/>
          <a:lstStyle/>
          <a:p>
            <a:r>
              <a:rPr lang="en-US" dirty="0"/>
              <a:t>Binary classification metrics are used on computations that involve just two classes. A good example is building a deep learning </a:t>
            </a:r>
            <a:r>
              <a:rPr lang="en-US" b="1" dirty="0"/>
              <a:t>model to predict cats and dogs</a:t>
            </a:r>
            <a:r>
              <a:rPr lang="en-US" dirty="0"/>
              <a:t>. We have two classes to predict and the </a:t>
            </a:r>
            <a:r>
              <a:rPr lang="en-US" dirty="0" smtClean="0"/>
              <a:t>threshold </a:t>
            </a:r>
            <a:r>
              <a:rPr lang="en-US" dirty="0"/>
              <a:t>determines the point of separation between them</a:t>
            </a:r>
            <a:r>
              <a:rPr lang="en-US" dirty="0" smtClean="0"/>
              <a:t>.</a:t>
            </a:r>
          </a:p>
          <a:p>
            <a:endParaRPr lang="en-US" dirty="0"/>
          </a:p>
          <a:p>
            <a:r>
              <a:rPr lang="en-US" b="1" i="1" dirty="0" err="1"/>
              <a:t>binary_accuracy</a:t>
            </a:r>
            <a:r>
              <a:rPr lang="en-US" dirty="0"/>
              <a:t> </a:t>
            </a:r>
            <a:endParaRPr lang="en-US" dirty="0" smtClean="0"/>
          </a:p>
          <a:p>
            <a:r>
              <a:rPr lang="en-US" dirty="0"/>
              <a:t> </a:t>
            </a:r>
            <a:r>
              <a:rPr lang="en-US" b="1" i="1" dirty="0"/>
              <a:t>accuracy</a:t>
            </a:r>
            <a:endParaRPr lang="en-US" dirty="0"/>
          </a:p>
        </p:txBody>
      </p:sp>
    </p:spTree>
    <p:extLst>
      <p:ext uri="{BB962C8B-B14F-4D97-AF65-F5344CB8AC3E}">
        <p14:creationId xmlns:p14="http://schemas.microsoft.com/office/powerpoint/2010/main" val="34092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2511"/>
          </a:xfrm>
        </p:spPr>
        <p:txBody>
          <a:bodyPr>
            <a:normAutofit/>
          </a:bodyPr>
          <a:lstStyle/>
          <a:p>
            <a:r>
              <a:rPr lang="en-US" sz="3600" b="1" dirty="0" smtClean="0"/>
              <a:t>3)</a:t>
            </a:r>
            <a:r>
              <a:rPr lang="en-US" sz="3600" b="1" dirty="0"/>
              <a:t> Multiclass </a:t>
            </a:r>
            <a:r>
              <a:rPr lang="en-US" sz="3600" b="1" dirty="0" smtClean="0"/>
              <a:t>classification</a:t>
            </a:r>
            <a:endParaRPr lang="en-US" sz="3600" b="1" dirty="0"/>
          </a:p>
        </p:txBody>
      </p:sp>
      <p:sp>
        <p:nvSpPr>
          <p:cNvPr id="3" name="Content Placeholder 2"/>
          <p:cNvSpPr>
            <a:spLocks noGrp="1"/>
          </p:cNvSpPr>
          <p:nvPr>
            <p:ph idx="1"/>
          </p:nvPr>
        </p:nvSpPr>
        <p:spPr>
          <a:xfrm>
            <a:off x="838200" y="1399308"/>
            <a:ext cx="10515600" cy="5209309"/>
          </a:xfrm>
        </p:spPr>
        <p:txBody>
          <a:bodyPr>
            <a:normAutofit fontScale="92500" lnSpcReduction="10000"/>
          </a:bodyPr>
          <a:lstStyle/>
          <a:p>
            <a:r>
              <a:rPr lang="en-US" dirty="0"/>
              <a:t>These metrics are used for classification </a:t>
            </a:r>
            <a:r>
              <a:rPr lang="en-US" b="1" dirty="0"/>
              <a:t>problems involving more than two classes</a:t>
            </a:r>
            <a:r>
              <a:rPr lang="en-US" dirty="0"/>
              <a:t>. Extending our animal classification example you can have three animals, cats, dogs, and bears. Since we are classifying more than two </a:t>
            </a:r>
            <a:r>
              <a:rPr lang="en-US" dirty="0" smtClean="0"/>
              <a:t>animals</a:t>
            </a:r>
            <a:r>
              <a:rPr lang="en-US" dirty="0"/>
              <a:t>, this is a multiclass classification problem</a:t>
            </a:r>
            <a:r>
              <a:rPr lang="en-US" dirty="0" smtClean="0"/>
              <a:t>.</a:t>
            </a:r>
          </a:p>
          <a:p>
            <a:pPr marL="0" indent="0">
              <a:buNone/>
            </a:pPr>
            <a:endParaRPr lang="en-US" dirty="0" smtClean="0"/>
          </a:p>
          <a:p>
            <a:r>
              <a:rPr lang="en-US" b="1" dirty="0" smtClean="0"/>
              <a:t>Accuracy</a:t>
            </a:r>
            <a:endParaRPr lang="en-US" dirty="0"/>
          </a:p>
          <a:p>
            <a:pPr fontAlgn="base"/>
            <a:r>
              <a:rPr lang="en-US" b="1" dirty="0"/>
              <a:t>Binary Accuracy</a:t>
            </a:r>
            <a:r>
              <a:rPr lang="en-US" dirty="0"/>
              <a:t>: </a:t>
            </a:r>
            <a:r>
              <a:rPr lang="en-US" dirty="0" err="1"/>
              <a:t>binary_accuracy</a:t>
            </a:r>
            <a:r>
              <a:rPr lang="en-US" dirty="0"/>
              <a:t>, </a:t>
            </a:r>
            <a:r>
              <a:rPr lang="en-US" dirty="0" err="1"/>
              <a:t>acc</a:t>
            </a:r>
            <a:endParaRPr lang="en-US" dirty="0"/>
          </a:p>
          <a:p>
            <a:pPr fontAlgn="base"/>
            <a:r>
              <a:rPr lang="en-US" b="1" dirty="0"/>
              <a:t>Categorical Accuracy</a:t>
            </a:r>
            <a:r>
              <a:rPr lang="en-US" dirty="0"/>
              <a:t>: </a:t>
            </a:r>
            <a:r>
              <a:rPr lang="en-US" dirty="0" err="1"/>
              <a:t>categorical_accuracy</a:t>
            </a:r>
            <a:r>
              <a:rPr lang="en-US" dirty="0"/>
              <a:t>, </a:t>
            </a:r>
            <a:r>
              <a:rPr lang="en-US" dirty="0" err="1"/>
              <a:t>acc</a:t>
            </a:r>
            <a:endParaRPr lang="en-US" dirty="0"/>
          </a:p>
          <a:p>
            <a:pPr fontAlgn="base"/>
            <a:r>
              <a:rPr lang="en-US" b="1" dirty="0"/>
              <a:t>Sparse Categorical Accuracy</a:t>
            </a:r>
            <a:r>
              <a:rPr lang="en-US" dirty="0"/>
              <a:t>: </a:t>
            </a:r>
            <a:r>
              <a:rPr lang="en-US" dirty="0" err="1"/>
              <a:t>sparse_categorical_accuracy</a:t>
            </a:r>
            <a:endParaRPr lang="en-US" dirty="0"/>
          </a:p>
          <a:p>
            <a:pPr fontAlgn="base"/>
            <a:r>
              <a:rPr lang="en-US" b="1" dirty="0"/>
              <a:t>Top k Categorical Accuracy</a:t>
            </a:r>
            <a:r>
              <a:rPr lang="en-US" dirty="0"/>
              <a:t>: </a:t>
            </a:r>
            <a:r>
              <a:rPr lang="en-US" dirty="0" err="1"/>
              <a:t>top_k_categorical_accuracy</a:t>
            </a:r>
            <a:r>
              <a:rPr lang="en-US" dirty="0"/>
              <a:t> (requires you specify a k parameter)</a:t>
            </a:r>
          </a:p>
          <a:p>
            <a:pPr fontAlgn="base"/>
            <a:r>
              <a:rPr lang="en-US" b="1" dirty="0"/>
              <a:t>Sparse Top k Categorical Accuracy</a:t>
            </a:r>
            <a:r>
              <a:rPr lang="en-US" dirty="0"/>
              <a:t>: </a:t>
            </a:r>
            <a:r>
              <a:rPr lang="en-US" dirty="0" err="1"/>
              <a:t>sparse_top_k_categorical_accuracy</a:t>
            </a:r>
            <a:r>
              <a:rPr lang="en-US" dirty="0"/>
              <a:t> (requires you specify a k parameter)</a:t>
            </a:r>
          </a:p>
          <a:p>
            <a:pPr marL="0" indent="0">
              <a:buNone/>
            </a:pPr>
            <a:endParaRPr lang="en-US" dirty="0"/>
          </a:p>
        </p:txBody>
      </p:sp>
    </p:spTree>
    <p:extLst>
      <p:ext uri="{BB962C8B-B14F-4D97-AF65-F5344CB8AC3E}">
        <p14:creationId xmlns:p14="http://schemas.microsoft.com/office/powerpoint/2010/main" val="2444880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700" b="1" dirty="0"/>
              <a:t>How to calculate F1 score in </a:t>
            </a:r>
            <a:r>
              <a:rPr lang="en-US" sz="3700" b="1" dirty="0" err="1"/>
              <a:t>Keras</a:t>
            </a:r>
            <a:r>
              <a:rPr lang="en-US" sz="3700" b="1" dirty="0"/>
              <a:t> (precision, and recall as a bonus)?</a:t>
            </a:r>
          </a:p>
        </p:txBody>
      </p:sp>
      <p:sp>
        <p:nvSpPr>
          <p:cNvPr id="3" name="Content Placeholder 2"/>
          <p:cNvSpPr>
            <a:spLocks noGrp="1"/>
          </p:cNvSpPr>
          <p:nvPr>
            <p:ph idx="1"/>
          </p:nvPr>
        </p:nvSpPr>
        <p:spPr/>
        <p:txBody>
          <a:bodyPr/>
          <a:lstStyle/>
          <a:p>
            <a:r>
              <a:rPr lang="en-US" dirty="0" smtClean="0"/>
              <a:t> Precision and recall used for multiclass classification , </a:t>
            </a:r>
            <a:r>
              <a:rPr lang="en-US" dirty="0"/>
              <a:t>but you can also use it for binary classification.</a:t>
            </a:r>
            <a:endParaRPr lang="en-US" dirty="0" smtClean="0"/>
          </a:p>
          <a:p>
            <a:endParaRPr lang="en-US" dirty="0"/>
          </a:p>
        </p:txBody>
      </p:sp>
    </p:spTree>
    <p:extLst>
      <p:ext uri="{BB962C8B-B14F-4D97-AF65-F5344CB8AC3E}">
        <p14:creationId xmlns:p14="http://schemas.microsoft.com/office/powerpoint/2010/main" val="3153367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320</Words>
  <Application>Microsoft Office PowerPoint</Application>
  <PresentationFormat>Widescreen</PresentationFormat>
  <Paragraphs>25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METRICS</vt:lpstr>
      <vt:lpstr> 1)Regression Metrics</vt:lpstr>
      <vt:lpstr>2) Binary classification metrics</vt:lpstr>
      <vt:lpstr>3) Multiclass classification</vt:lpstr>
      <vt:lpstr>How to calculate F1 score in Keras (precision, and recall as a bonus)?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METRICS</dc:title>
  <dc:creator>Ajith</dc:creator>
  <cp:lastModifiedBy>Ajith</cp:lastModifiedBy>
  <cp:revision>13</cp:revision>
  <dcterms:created xsi:type="dcterms:W3CDTF">2022-09-21T09:03:10Z</dcterms:created>
  <dcterms:modified xsi:type="dcterms:W3CDTF">2022-09-21T09:53:39Z</dcterms:modified>
</cp:coreProperties>
</file>