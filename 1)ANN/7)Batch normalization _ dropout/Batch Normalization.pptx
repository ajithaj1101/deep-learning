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E84018-0ABF-4CB7-AB42-453FBF3DC055}"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29517869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E84018-0ABF-4CB7-AB42-453FBF3DC055}"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18466715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CE84018-0ABF-4CB7-AB42-453FBF3DC055}"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455113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CE84018-0ABF-4CB7-AB42-453FBF3DC055}"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1437104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CE84018-0ABF-4CB7-AB42-453FBF3DC055}" type="datetimeFigureOut">
              <a:rPr lang="en-US" smtClean="0"/>
              <a:t>9/21/2022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42137074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CE84018-0ABF-4CB7-AB42-453FBF3DC055}" type="datetimeFigureOut">
              <a:rPr lang="en-US" smtClean="0"/>
              <a:t>9/21/2022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498651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E84018-0ABF-4CB7-AB42-453FBF3DC055}" type="datetimeFigureOut">
              <a:rPr lang="en-US" smtClean="0"/>
              <a:t>9/21/2022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3879765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E84018-0ABF-4CB7-AB42-453FBF3DC055}"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1109086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CE84018-0ABF-4CB7-AB42-453FBF3DC055}" type="datetimeFigureOut">
              <a:rPr lang="en-US" smtClean="0"/>
              <a:t>9/21/2022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26767006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E84018-0ABF-4CB7-AB42-453FBF3DC055}"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2244679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E84018-0ABF-4CB7-AB42-453FBF3DC055}" type="datetimeFigureOut">
              <a:rPr lang="en-US" smtClean="0"/>
              <a:t>9/21/2022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04AF3F7-F76B-4978-ADBE-7C679C66E510}" type="slidenum">
              <a:rPr lang="en-US" smtClean="0"/>
              <a:t>‹#›</a:t>
            </a:fld>
            <a:endParaRPr lang="en-US"/>
          </a:p>
        </p:txBody>
      </p:sp>
    </p:spTree>
    <p:extLst>
      <p:ext uri="{BB962C8B-B14F-4D97-AF65-F5344CB8AC3E}">
        <p14:creationId xmlns:p14="http://schemas.microsoft.com/office/powerpoint/2010/main" val="1784311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E84018-0ABF-4CB7-AB42-453FBF3DC055}" type="datetimeFigureOut">
              <a:rPr lang="en-US" smtClean="0"/>
              <a:t>9/21/2022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AF3F7-F76B-4978-ADBE-7C679C66E510}" type="slidenum">
              <a:rPr lang="en-US" smtClean="0"/>
              <a:t>‹#›</a:t>
            </a:fld>
            <a:endParaRPr lang="en-US"/>
          </a:p>
        </p:txBody>
      </p:sp>
    </p:spTree>
    <p:extLst>
      <p:ext uri="{BB962C8B-B14F-4D97-AF65-F5344CB8AC3E}">
        <p14:creationId xmlns:p14="http://schemas.microsoft.com/office/powerpoint/2010/main" val="39681895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deepai.org/machine-learning-glossary-and-terms/standard-deviation" TargetMode="External"/><Relationship Id="rId2" Type="http://schemas.openxmlformats.org/officeDocument/2006/relationships/hyperlink" Target="https://deepai.org/machine-learning-glossary-and-terms/deep-learning" TargetMode="External"/><Relationship Id="rId1" Type="http://schemas.openxmlformats.org/officeDocument/2006/relationships/slideLayout" Target="../slideLayouts/slideLayout2.xml"/><Relationship Id="rId5" Type="http://schemas.openxmlformats.org/officeDocument/2006/relationships/hyperlink" Target="https://deepai.org/machine-learning-glossary-and-terms/loss-function" TargetMode="External"/><Relationship Id="rId4" Type="http://schemas.openxmlformats.org/officeDocument/2006/relationships/hyperlink" Target="https://deepai.org/machine-learning-glossary-and-terms/stochastic-gradient-descen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48195"/>
            <a:ext cx="9144000" cy="914400"/>
          </a:xfrm>
        </p:spPr>
        <p:txBody>
          <a:bodyPr/>
          <a:lstStyle/>
          <a:p>
            <a:r>
              <a:rPr lang="en-US" b="1" dirty="0" smtClean="0"/>
              <a:t>Batch Normalization</a:t>
            </a:r>
            <a:endParaRPr lang="en-US" b="1" dirty="0"/>
          </a:p>
        </p:txBody>
      </p:sp>
      <p:sp>
        <p:nvSpPr>
          <p:cNvPr id="3" name="Subtitle 2"/>
          <p:cNvSpPr>
            <a:spLocks noGrp="1"/>
          </p:cNvSpPr>
          <p:nvPr>
            <p:ph type="subTitle" idx="1"/>
          </p:nvPr>
        </p:nvSpPr>
        <p:spPr>
          <a:xfrm>
            <a:off x="731519" y="1554479"/>
            <a:ext cx="10711543" cy="5107577"/>
          </a:xfrm>
        </p:spPr>
        <p:txBody>
          <a:bodyPr/>
          <a:lstStyle/>
          <a:p>
            <a:pPr marL="342900" indent="-342900" algn="l">
              <a:buFont typeface="Arial" panose="020B0604020202020204" pitchFamily="34" charset="0"/>
              <a:buChar char="•"/>
            </a:pPr>
            <a:r>
              <a:rPr lang="en-US" dirty="0"/>
              <a:t>it is a process to make neural networks faster and more stable through adding extra layers in a deep neural network. The new layer performs the standardizing and normalizing operations on the input of a layer coming from a previous layer</a:t>
            </a:r>
            <a:r>
              <a:rPr lang="en-US" dirty="0" smtClean="0"/>
              <a:t>.</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dirty="0"/>
              <a:t>One of the most common problems of data science professionals is to avoid over-fitting. Have you come across a situation when your model is performing very well on the training data but is unable to predict the test data accurately. The reason is your model is overfitting. The solution to such a problem is regularization</a:t>
            </a:r>
            <a:r>
              <a:rPr lang="en-US" dirty="0" smtClean="0"/>
              <a:t>.</a:t>
            </a:r>
            <a:endParaRPr lang="en-US" dirty="0"/>
          </a:p>
          <a:p>
            <a:pPr marL="342900" indent="-342900" algn="l">
              <a:buFont typeface="Arial" panose="020B0604020202020204" pitchFamily="34" charset="0"/>
              <a:buChar char="•"/>
            </a:pPr>
            <a:endParaRPr lang="en-US" dirty="0" smtClean="0"/>
          </a:p>
          <a:p>
            <a:pPr marL="342900" indent="-342900" algn="l">
              <a:buFont typeface="Arial" panose="020B0604020202020204" pitchFamily="34" charset="0"/>
              <a:buChar char="•"/>
            </a:pPr>
            <a:r>
              <a:rPr lang="en-US" dirty="0"/>
              <a:t>The regularization techniques help to improve a model and allows it to converge faster. We have several regularization tools at our end, some of them are early stopping, dropout, weight initialization techniques, and batch normalization.</a:t>
            </a:r>
          </a:p>
        </p:txBody>
      </p:sp>
    </p:spTree>
    <p:extLst>
      <p:ext uri="{BB962C8B-B14F-4D97-AF65-F5344CB8AC3E}">
        <p14:creationId xmlns:p14="http://schemas.microsoft.com/office/powerpoint/2010/main" val="1341155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841"/>
          </a:xfrm>
        </p:spPr>
        <p:txBody>
          <a:bodyPr>
            <a:normAutofit fontScale="90000"/>
          </a:bodyPr>
          <a:lstStyle/>
          <a:p>
            <a:r>
              <a:rPr lang="en-US" b="1" dirty="0"/>
              <a:t>How Does Batch Normalization Work</a:t>
            </a:r>
            <a:r>
              <a:rPr lang="en-US" b="1" dirty="0" smtClean="0"/>
              <a:t>?</a:t>
            </a:r>
            <a:endParaRPr lang="en-US" b="1" dirty="0"/>
          </a:p>
        </p:txBody>
      </p:sp>
      <p:sp>
        <p:nvSpPr>
          <p:cNvPr id="3" name="Content Placeholder 2"/>
          <p:cNvSpPr>
            <a:spLocks noGrp="1"/>
          </p:cNvSpPr>
          <p:nvPr>
            <p:ph idx="1"/>
          </p:nvPr>
        </p:nvSpPr>
        <p:spPr>
          <a:xfrm>
            <a:off x="838200" y="1031966"/>
            <a:ext cx="10515600" cy="5512525"/>
          </a:xfrm>
        </p:spPr>
        <p:txBody>
          <a:bodyPr>
            <a:normAutofit lnSpcReduction="10000"/>
          </a:bodyPr>
          <a:lstStyle/>
          <a:p>
            <a:r>
              <a:rPr lang="en-US" sz="2400" dirty="0"/>
              <a:t>To enhance the stability of a </a:t>
            </a:r>
            <a:r>
              <a:rPr lang="en-US" sz="2400" dirty="0">
                <a:hlinkClick r:id="rId2"/>
              </a:rPr>
              <a:t>deep learning</a:t>
            </a:r>
            <a:r>
              <a:rPr lang="en-US" sz="2400" dirty="0"/>
              <a:t> network, batch normalization affects the output of the previous activation layer by subtracting the batch mean, and then dividing by the batch’s </a:t>
            </a:r>
            <a:r>
              <a:rPr lang="en-US" sz="2400" dirty="0">
                <a:hlinkClick r:id="rId3"/>
              </a:rPr>
              <a:t>standard deviation</a:t>
            </a:r>
            <a:r>
              <a:rPr lang="en-US" sz="2400" dirty="0" smtClean="0"/>
              <a:t>.</a:t>
            </a:r>
          </a:p>
          <a:p>
            <a:pPr marL="0" indent="0">
              <a:buNone/>
            </a:pPr>
            <a:endParaRPr lang="en-US" sz="2400" dirty="0"/>
          </a:p>
          <a:p>
            <a:r>
              <a:rPr lang="en-US" sz="2400" dirty="0"/>
              <a:t>Since this shifting or scaling of outputs by a randomly initialized parameter reduces the accuracy of the weights in the next layer, a </a:t>
            </a:r>
            <a:r>
              <a:rPr lang="en-US" sz="2400" dirty="0">
                <a:hlinkClick r:id="rId4"/>
              </a:rPr>
              <a:t>stochastic gradient descent</a:t>
            </a:r>
            <a:r>
              <a:rPr lang="en-US" sz="2400" dirty="0"/>
              <a:t> is applied to remove this normalization if the </a:t>
            </a:r>
            <a:r>
              <a:rPr lang="en-US" sz="2400" dirty="0">
                <a:hlinkClick r:id="rId5"/>
              </a:rPr>
              <a:t>loss function</a:t>
            </a:r>
            <a:r>
              <a:rPr lang="en-US" sz="2400" dirty="0"/>
              <a:t> is too high</a:t>
            </a:r>
            <a:r>
              <a:rPr lang="en-US" sz="2400" dirty="0" smtClean="0"/>
              <a:t>.</a:t>
            </a:r>
          </a:p>
          <a:p>
            <a:pPr marL="0" indent="0">
              <a:buNone/>
            </a:pPr>
            <a:endParaRPr lang="en-US" sz="2400" dirty="0"/>
          </a:p>
          <a:p>
            <a:r>
              <a:rPr lang="en-US" sz="2400" dirty="0"/>
              <a:t>The end result is batch normalization adds two additional trainable parameters to a layer: The normalized output that’s multiplied by a gamma (standard deviation) parameter, and the additional beta (mean) parameter. This is why batch normalization works together with gradient descents so that data can be “</a:t>
            </a:r>
            <a:r>
              <a:rPr lang="en-US" sz="2400" dirty="0" err="1"/>
              <a:t>denormalized</a:t>
            </a:r>
            <a:r>
              <a:rPr lang="en-US" sz="2400" dirty="0"/>
              <a:t>” by simply changing just these two weights for each output. This lead to less data loss and increased stability across the network by changing all the other relevant weights.</a:t>
            </a:r>
          </a:p>
        </p:txBody>
      </p:sp>
    </p:spTree>
    <p:extLst>
      <p:ext uri="{BB962C8B-B14F-4D97-AF65-F5344CB8AC3E}">
        <p14:creationId xmlns:p14="http://schemas.microsoft.com/office/powerpoint/2010/main" val="22158632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Where to use batch normalization ?</a:t>
            </a:r>
            <a:endParaRPr lang="en-US" b="1" dirty="0"/>
          </a:p>
        </p:txBody>
      </p:sp>
      <p:sp>
        <p:nvSpPr>
          <p:cNvPr id="3" name="Content Placeholder 2"/>
          <p:cNvSpPr>
            <a:spLocks noGrp="1"/>
          </p:cNvSpPr>
          <p:nvPr>
            <p:ph idx="1"/>
          </p:nvPr>
        </p:nvSpPr>
        <p:spPr/>
        <p:txBody>
          <a:bodyPr/>
          <a:lstStyle/>
          <a:p>
            <a:r>
              <a:rPr lang="en-US" dirty="0"/>
              <a:t>we add Batch Normalization after the activation function of the output layer or </a:t>
            </a:r>
            <a:r>
              <a:rPr lang="en-US" dirty="0" smtClean="0"/>
              <a:t>before </a:t>
            </a:r>
            <a:r>
              <a:rPr lang="en-US" dirty="0"/>
              <a:t>the activation function of the input </a:t>
            </a:r>
            <a:r>
              <a:rPr lang="en-US" dirty="0" smtClean="0"/>
              <a:t>layer.</a:t>
            </a:r>
          </a:p>
          <a:p>
            <a:endParaRPr lang="en-US" dirty="0"/>
          </a:p>
          <a:p>
            <a:r>
              <a:rPr lang="en-US" dirty="0" smtClean="0"/>
              <a:t>According to researchers add batch normalization after hidden layers. because , it gives better performance.</a:t>
            </a:r>
          </a:p>
        </p:txBody>
      </p:sp>
    </p:spTree>
    <p:extLst>
      <p:ext uri="{BB962C8B-B14F-4D97-AF65-F5344CB8AC3E}">
        <p14:creationId xmlns:p14="http://schemas.microsoft.com/office/powerpoint/2010/main" val="40397906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366</Words>
  <Application>Microsoft Office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Calibri Light</vt:lpstr>
      <vt:lpstr>Office Theme</vt:lpstr>
      <vt:lpstr>Batch Normalization</vt:lpstr>
      <vt:lpstr>How Does Batch Normalization Work?</vt:lpstr>
      <vt:lpstr>Where to use batch normalization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 Normalization</dc:title>
  <dc:creator>Ajith</dc:creator>
  <cp:lastModifiedBy>Ajith</cp:lastModifiedBy>
  <cp:revision>5</cp:revision>
  <dcterms:created xsi:type="dcterms:W3CDTF">2022-09-21T18:07:56Z</dcterms:created>
  <dcterms:modified xsi:type="dcterms:W3CDTF">2022-09-21T18:21:37Z</dcterms:modified>
</cp:coreProperties>
</file>