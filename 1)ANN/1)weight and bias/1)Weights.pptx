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5FA31-8CC0-4684-9BCA-6066E4635E8B}" type="datetimeFigureOut">
              <a:rPr lang="en-US" smtClean="0"/>
              <a:t>10/6/2022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1181C-64DF-4DEB-9331-16C2926A1A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2351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5FA31-8CC0-4684-9BCA-6066E4635E8B}" type="datetimeFigureOut">
              <a:rPr lang="en-US" smtClean="0"/>
              <a:t>10/6/2022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1181C-64DF-4DEB-9331-16C2926A1A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3925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5FA31-8CC0-4684-9BCA-6066E4635E8B}" type="datetimeFigureOut">
              <a:rPr lang="en-US" smtClean="0"/>
              <a:t>10/6/2022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1181C-64DF-4DEB-9331-16C2926A1A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921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5FA31-8CC0-4684-9BCA-6066E4635E8B}" type="datetimeFigureOut">
              <a:rPr lang="en-US" smtClean="0"/>
              <a:t>10/6/2022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1181C-64DF-4DEB-9331-16C2926A1A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528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5FA31-8CC0-4684-9BCA-6066E4635E8B}" type="datetimeFigureOut">
              <a:rPr lang="en-US" smtClean="0"/>
              <a:t>10/6/2022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1181C-64DF-4DEB-9331-16C2926A1A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0687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5FA31-8CC0-4684-9BCA-6066E4635E8B}" type="datetimeFigureOut">
              <a:rPr lang="en-US" smtClean="0"/>
              <a:t>10/6/2022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1181C-64DF-4DEB-9331-16C2926A1A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2941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5FA31-8CC0-4684-9BCA-6066E4635E8B}" type="datetimeFigureOut">
              <a:rPr lang="en-US" smtClean="0"/>
              <a:t>10/6/2022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1181C-64DF-4DEB-9331-16C2926A1A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6475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5FA31-8CC0-4684-9BCA-6066E4635E8B}" type="datetimeFigureOut">
              <a:rPr lang="en-US" smtClean="0"/>
              <a:t>10/6/2022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1181C-64DF-4DEB-9331-16C2926A1A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966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5FA31-8CC0-4684-9BCA-6066E4635E8B}" type="datetimeFigureOut">
              <a:rPr lang="en-US" smtClean="0"/>
              <a:t>10/6/2022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1181C-64DF-4DEB-9331-16C2926A1A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1688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5FA31-8CC0-4684-9BCA-6066E4635E8B}" type="datetimeFigureOut">
              <a:rPr lang="en-US" smtClean="0"/>
              <a:t>10/6/2022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1181C-64DF-4DEB-9331-16C2926A1A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83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5FA31-8CC0-4684-9BCA-6066E4635E8B}" type="datetimeFigureOut">
              <a:rPr lang="en-US" smtClean="0"/>
              <a:t>10/6/2022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1181C-64DF-4DEB-9331-16C2926A1A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28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55FA31-8CC0-4684-9BCA-6066E4635E8B}" type="datetimeFigureOut">
              <a:rPr lang="en-US" smtClean="0"/>
              <a:t>10/6/2022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61181C-64DF-4DEB-9331-16C2926A1A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246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Weight 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 </a:t>
            </a:r>
            <a:r>
              <a:rPr lang="en-US" dirty="0"/>
              <a:t>A weight represent the strength of the connection.</a:t>
            </a:r>
            <a:endParaRPr lang="en-US" b="1" dirty="0"/>
          </a:p>
          <a:p>
            <a:r>
              <a:rPr lang="en-US" dirty="0"/>
              <a:t>While building and training neural networks, it is crucial to initialize the weights appropriately to ensure a model with high accuracy</a:t>
            </a:r>
            <a:r>
              <a:rPr lang="en-US" dirty="0" smtClean="0"/>
              <a:t>.</a:t>
            </a:r>
          </a:p>
          <a:p>
            <a:endParaRPr lang="en-US" b="1" dirty="0"/>
          </a:p>
          <a:p>
            <a:pPr marL="0" indent="0">
              <a:buNone/>
            </a:pPr>
            <a:r>
              <a:rPr lang="en-US" b="1" dirty="0" smtClean="0"/>
              <a:t>Weight </a:t>
            </a:r>
            <a:r>
              <a:rPr lang="en-US" b="1" dirty="0"/>
              <a:t>initialization techniques :</a:t>
            </a:r>
          </a:p>
          <a:p>
            <a:pPr marL="0" indent="0">
              <a:buNone/>
            </a:pPr>
            <a:r>
              <a:rPr lang="en-US" dirty="0" smtClean="0"/>
              <a:t> </a:t>
            </a:r>
            <a:r>
              <a:rPr lang="en-US" dirty="0"/>
              <a:t>  </a:t>
            </a:r>
            <a:r>
              <a:rPr lang="en-US" dirty="0" err="1"/>
              <a:t>i</a:t>
            </a:r>
            <a:r>
              <a:rPr lang="en-US" dirty="0"/>
              <a:t>) Zero </a:t>
            </a:r>
            <a:r>
              <a:rPr lang="en-US" dirty="0" smtClean="0"/>
              <a:t>initialization</a:t>
            </a:r>
            <a:endParaRPr lang="en-US" b="1" dirty="0" smtClean="0"/>
          </a:p>
          <a:p>
            <a:pPr marL="0" indent="0">
              <a:buNone/>
            </a:pPr>
            <a:r>
              <a:rPr lang="en-US" dirty="0"/>
              <a:t>    ii)Random </a:t>
            </a:r>
            <a:r>
              <a:rPr lang="en-US" dirty="0" err="1"/>
              <a:t>intialization</a:t>
            </a:r>
            <a:endParaRPr lang="en-US" b="1" dirty="0"/>
          </a:p>
          <a:p>
            <a:pPr marL="0" indent="0">
              <a:buNone/>
            </a:pPr>
            <a:r>
              <a:rPr lang="en-US" dirty="0" smtClean="0"/>
              <a:t>	a)He</a:t>
            </a:r>
            <a:endParaRPr lang="en-US" b="1" dirty="0"/>
          </a:p>
          <a:p>
            <a:pPr marL="0" indent="0">
              <a:buNone/>
            </a:pPr>
            <a:r>
              <a:rPr lang="en-US" dirty="0" smtClean="0"/>
              <a:t>	b)</a:t>
            </a:r>
            <a:r>
              <a:rPr lang="en-US" dirty="0" err="1" smtClean="0"/>
              <a:t>Xavior</a:t>
            </a:r>
            <a:r>
              <a:rPr lang="en-US" dirty="0" smtClean="0"/>
              <a:t> </a:t>
            </a:r>
            <a:r>
              <a:rPr lang="en-US" dirty="0"/>
              <a:t>/ </a:t>
            </a:r>
            <a:r>
              <a:rPr lang="en-US" dirty="0" err="1" smtClean="0"/>
              <a:t>Glorot</a:t>
            </a:r>
            <a:endParaRPr lang="en-US" b="1" dirty="0"/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3974777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35527"/>
            <a:ext cx="10515600" cy="5941436"/>
          </a:xfrm>
        </p:spPr>
        <p:txBody>
          <a:bodyPr/>
          <a:lstStyle/>
          <a:p>
            <a:pPr marL="0" indent="0">
              <a:buNone/>
            </a:pPr>
            <a:r>
              <a:rPr lang="en-US" b="1" dirty="0" err="1"/>
              <a:t>i</a:t>
            </a:r>
            <a:r>
              <a:rPr lang="en-US" b="1" dirty="0"/>
              <a:t>)Zero initialization :</a:t>
            </a:r>
          </a:p>
          <a:p>
            <a:r>
              <a:rPr lang="en-US" dirty="0" smtClean="0"/>
              <a:t> </a:t>
            </a:r>
            <a:r>
              <a:rPr lang="en-US" dirty="0"/>
              <a:t>As the name suggests, all the weights are assigned zero as the initial value is zero initialization.</a:t>
            </a:r>
            <a:endParaRPr lang="en-US" b="1" dirty="0"/>
          </a:p>
          <a:p>
            <a:r>
              <a:rPr lang="en-US" dirty="0"/>
              <a:t> </a:t>
            </a:r>
            <a:r>
              <a:rPr lang="en-US" dirty="0" smtClean="0"/>
              <a:t>This </a:t>
            </a:r>
            <a:r>
              <a:rPr lang="en-US" dirty="0"/>
              <a:t>kind of initialization is highly ineffective as neurons learn the same feature during each iteration</a:t>
            </a:r>
            <a:r>
              <a:rPr lang="en-US" dirty="0" smtClean="0"/>
              <a:t>.</a:t>
            </a:r>
          </a:p>
          <a:p>
            <a:r>
              <a:rPr lang="en-US" dirty="0" smtClean="0"/>
              <a:t>So the learning also accuracy is </a:t>
            </a:r>
            <a:r>
              <a:rPr lang="en-US" dirty="0" smtClean="0"/>
              <a:t>not good.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Drawbacks </a:t>
            </a:r>
            <a:r>
              <a:rPr lang="en-US" dirty="0"/>
              <a:t>:</a:t>
            </a:r>
            <a:endParaRPr lang="en-US" b="1" dirty="0"/>
          </a:p>
          <a:p>
            <a:r>
              <a:rPr lang="en-US" dirty="0"/>
              <a:t> Zero initialization causes the neuron to memorize the same functions almost in each iteration.</a:t>
            </a:r>
            <a:endParaRPr lang="en-US" b="1" dirty="0"/>
          </a:p>
          <a:p>
            <a:endParaRPr lang="en-US" dirty="0" smtClean="0"/>
          </a:p>
          <a:p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5851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idx="1"/>
          </p:nvPr>
        </p:nvSpPr>
        <p:spPr>
          <a:xfrm>
            <a:off x="838200" y="360363"/>
            <a:ext cx="10515600" cy="5816600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ii)Random Initialization :</a:t>
            </a:r>
          </a:p>
          <a:p>
            <a:r>
              <a:rPr lang="en-US" dirty="0" smtClean="0"/>
              <a:t>In </a:t>
            </a:r>
            <a:r>
              <a:rPr lang="en-US" dirty="0"/>
              <a:t>an attempt to overcome the shortcomings of Zero or Constant Initialization, random initialization assigns random values except for zeros as weights to neuron paths.</a:t>
            </a:r>
            <a:endParaRPr lang="en-US" b="1" dirty="0"/>
          </a:p>
          <a:p>
            <a:r>
              <a:rPr lang="en-US" dirty="0"/>
              <a:t> </a:t>
            </a:r>
            <a:r>
              <a:rPr lang="en-US" dirty="0" smtClean="0"/>
              <a:t>This </a:t>
            </a:r>
            <a:r>
              <a:rPr lang="en-US" dirty="0"/>
              <a:t>technique tries to address the problems of zero initialization since it prevents neurons from learning the same features of</a:t>
            </a:r>
            <a:r>
              <a:rPr lang="en-US" b="1" dirty="0"/>
              <a:t> </a:t>
            </a:r>
            <a:r>
              <a:rPr lang="en-US" dirty="0"/>
              <a:t>their inputs since our goal is to make each neuron learn different functions of its input and this technique gives much better accuracy than zero initialization</a:t>
            </a:r>
            <a:endParaRPr lang="en-US" b="1" dirty="0"/>
          </a:p>
          <a:p>
            <a:pPr marL="0" indent="0">
              <a:buNone/>
            </a:pPr>
            <a:r>
              <a:rPr lang="en-US" b="1" dirty="0"/>
              <a:t>Drawbacks </a:t>
            </a:r>
          </a:p>
          <a:p>
            <a:r>
              <a:rPr lang="en-US" dirty="0"/>
              <a:t>However, assigning values randomly to the weights, problems such as Overfitting, Vanishing Gradient Problem, Exploding Gradient Problem might occur.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2936210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idx="1"/>
          </p:nvPr>
        </p:nvSpPr>
        <p:spPr>
          <a:xfrm>
            <a:off x="838200" y="401349"/>
            <a:ext cx="10515600" cy="5734050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a)He </a:t>
            </a:r>
            <a:r>
              <a:rPr lang="en-US" b="1" dirty="0" err="1"/>
              <a:t>intialization</a:t>
            </a:r>
            <a:r>
              <a:rPr lang="en-US" b="1" dirty="0"/>
              <a:t>:</a:t>
            </a:r>
          </a:p>
          <a:p>
            <a:r>
              <a:rPr lang="en-US" dirty="0"/>
              <a:t>He Uniform Initialization is suitable for layers where </a:t>
            </a:r>
            <a:r>
              <a:rPr lang="en-US" dirty="0" err="1"/>
              <a:t>ReLU</a:t>
            </a:r>
            <a:r>
              <a:rPr lang="en-US" dirty="0"/>
              <a:t> activation function is used</a:t>
            </a:r>
            <a:endParaRPr lang="en-US" b="1" dirty="0"/>
          </a:p>
          <a:p>
            <a:pPr marL="0" indent="0">
              <a:buNone/>
            </a:pPr>
            <a:endParaRPr lang="en-US" b="1" dirty="0" smtClean="0"/>
          </a:p>
          <a:p>
            <a:pPr marL="0" indent="0">
              <a:buNone/>
            </a:pPr>
            <a:r>
              <a:rPr lang="en-US" b="1" dirty="0" smtClean="0"/>
              <a:t>b)</a:t>
            </a:r>
            <a:r>
              <a:rPr lang="en-US" b="1" dirty="0" err="1" smtClean="0"/>
              <a:t>Xavior</a:t>
            </a:r>
            <a:r>
              <a:rPr lang="en-US" b="1" dirty="0" smtClean="0"/>
              <a:t> </a:t>
            </a:r>
            <a:r>
              <a:rPr lang="en-US" b="1" dirty="0"/>
              <a:t>/ </a:t>
            </a:r>
            <a:r>
              <a:rPr lang="en-US" b="1" dirty="0" err="1"/>
              <a:t>Glorot</a:t>
            </a:r>
            <a:r>
              <a:rPr lang="en-US" b="1" dirty="0"/>
              <a:t>:</a:t>
            </a:r>
          </a:p>
          <a:p>
            <a:r>
              <a:rPr lang="en-US" dirty="0"/>
              <a:t>Xavier initialization works better for layers with sigmoid activation</a:t>
            </a:r>
            <a:r>
              <a:rPr lang="en-US" dirty="0" smtClean="0"/>
              <a:t>.</a:t>
            </a:r>
          </a:p>
          <a:p>
            <a:r>
              <a:rPr lang="en-US" dirty="0" smtClean="0"/>
              <a:t>It is default weight initializer</a:t>
            </a:r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pPr marL="0" indent="0">
              <a:buNone/>
            </a:pPr>
            <a:r>
              <a:rPr lang="en-US" dirty="0" smtClean="0"/>
              <a:t>https://www.tensorflow.org/api_docs/python/tf/keras/initializers/Identity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60963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Bias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purpose of the bias term is </a:t>
            </a:r>
            <a:r>
              <a:rPr lang="en-US" b="1" dirty="0"/>
              <a:t>to shift the position of the curve left or right to delay or accelerate the activation of a </a:t>
            </a:r>
            <a:r>
              <a:rPr lang="en-US" b="1" dirty="0" smtClean="0"/>
              <a:t>node.</a:t>
            </a:r>
          </a:p>
          <a:p>
            <a:r>
              <a:rPr lang="en-US" dirty="0" smtClean="0"/>
              <a:t>We can able to change bias value in neural network by using </a:t>
            </a:r>
            <a:r>
              <a:rPr lang="en-US" dirty="0" err="1" smtClean="0"/>
              <a:t>bias_initializer</a:t>
            </a:r>
            <a:r>
              <a:rPr lang="en-US" dirty="0" smtClean="0"/>
              <a:t>.</a:t>
            </a:r>
          </a:p>
          <a:p>
            <a:r>
              <a:rPr lang="en-US" dirty="0" smtClean="0"/>
              <a:t>Default bias value is 1.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62731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952"/>
            <a:ext cx="10515600" cy="1325563"/>
          </a:xfrm>
        </p:spPr>
        <p:txBody>
          <a:bodyPr/>
          <a:lstStyle/>
          <a:p>
            <a:r>
              <a:rPr lang="en-US" b="1" dirty="0" smtClean="0"/>
              <a:t>Learning rate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8316"/>
            <a:ext cx="10515600" cy="4351338"/>
          </a:xfrm>
        </p:spPr>
        <p:txBody>
          <a:bodyPr/>
          <a:lstStyle/>
          <a:p>
            <a:r>
              <a:rPr lang="en-US" dirty="0" smtClean="0"/>
              <a:t>The </a:t>
            </a:r>
            <a:r>
              <a:rPr lang="en-US" dirty="0"/>
              <a:t>learning rate is </a:t>
            </a:r>
            <a:r>
              <a:rPr lang="en-US" b="1" dirty="0"/>
              <a:t>a tuning parameter in an optimization algorithm that determines the step size at each iteration while moving toward a minimum of a loss function</a:t>
            </a:r>
            <a:r>
              <a:rPr lang="en-US" dirty="0" smtClean="0"/>
              <a:t>.</a:t>
            </a:r>
            <a:endParaRPr lang="en-US" dirty="0"/>
          </a:p>
          <a:p>
            <a:endParaRPr lang="en-US" dirty="0"/>
          </a:p>
        </p:txBody>
      </p:sp>
      <p:pic>
        <p:nvPicPr>
          <p:cNvPr id="1026" name="Picture 2" descr="https://miro.medium.com/max/459/0*uIa_Dz3czXO5iWyI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7322" y="2804276"/>
            <a:ext cx="5123006" cy="35585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4887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350</Words>
  <Application>Microsoft Office PowerPoint</Application>
  <PresentationFormat>Widescreen</PresentationFormat>
  <Paragraphs>37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Weight :</vt:lpstr>
      <vt:lpstr>PowerPoint Presentation</vt:lpstr>
      <vt:lpstr>PowerPoint Presentation</vt:lpstr>
      <vt:lpstr>PowerPoint Presentation</vt:lpstr>
      <vt:lpstr>Bias</vt:lpstr>
      <vt:lpstr>Learning rate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Weight :</dc:title>
  <dc:creator>Ajith</dc:creator>
  <cp:lastModifiedBy>Ajith</cp:lastModifiedBy>
  <cp:revision>16</cp:revision>
  <dcterms:created xsi:type="dcterms:W3CDTF">2022-10-06T16:26:04Z</dcterms:created>
  <dcterms:modified xsi:type="dcterms:W3CDTF">2022-10-06T16:50:22Z</dcterms:modified>
</cp:coreProperties>
</file>